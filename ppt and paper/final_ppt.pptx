
<file path=[Content_Types].xml><?xml version="1.0" encoding="utf-8"?>
<Types xmlns="http://schemas.openxmlformats.org/package/2006/content-types">
  <Default Extension="bin" ContentType="application/vnd.openxmlformats-officedocument.oleObject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2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sldSz cx="18288000" cy="10287000"/>
  <p:notesSz cx="6858000" cy="9144000"/>
  <p:embeddedFontLst>
    <p:embeddedFont>
      <p:font typeface="Arial Bold" panose="020B0704020202020204" pitchFamily="34" charset="0"/>
      <p:regular r:id="rId28"/>
      <p:bold r:id="rId29"/>
    </p:embeddedFont>
    <p:embeddedFont>
      <p:font typeface="Bebas Neue" panose="020B0606020202050201" pitchFamily="34" charset="0"/>
      <p:regular r:id="rId30"/>
    </p:embeddedFont>
    <p:embeddedFont>
      <p:font typeface="Calibri (MS)" panose="020B0604020202020204" charset="0"/>
      <p:regular r:id="rId31"/>
    </p:embeddedFont>
    <p:embeddedFont>
      <p:font typeface="Calibri (MS) Bold" panose="020B0604020202020204" charset="0"/>
      <p:regular r:id="rId32"/>
    </p:embeddedFont>
    <p:embeddedFont>
      <p:font typeface="Gill Sans Light" panose="020B0604020202020204" charset="0"/>
      <p:regular r:id="rId3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5.fntdata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1.fntdata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font" Target="fonts/font3.fntdata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07.05.2026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14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14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oleObject" Target="../embeddings/oleObject1.bin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hyperlink" Target="https://doi.org/10.1109/ICSCN67106.2025.11308699" TargetMode="External"/><Relationship Id="rId3" Type="http://schemas.openxmlformats.org/officeDocument/2006/relationships/image" Target="../media/image2.png"/><Relationship Id="rId7" Type="http://schemas.openxmlformats.org/officeDocument/2006/relationships/hyperlink" Target="https://www.archbreastcancer.com/index.php/abc/upcoming/view/1060" TargetMode="Externa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doi.org/10.1016/j.gendis.2024.101275" TargetMode="External"/><Relationship Id="rId5" Type="http://schemas.openxmlformats.org/officeDocument/2006/relationships/hyperlink" Target="https://doi.org/10.5220/0013589100004664" TargetMode="External"/><Relationship Id="rId4" Type="http://schemas.openxmlformats.org/officeDocument/2006/relationships/hyperlink" Target="https://doi.org/10.5281/zenodo.14552135" TargetMode="Externa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09961" y="1676561"/>
            <a:ext cx="16281045" cy="2914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719"/>
              </a:lnSpc>
            </a:pPr>
            <a:r>
              <a:rPr lang="en-US" sz="5599" b="1" spc="-199">
                <a:solidFill>
                  <a:srgbClr val="8A0000"/>
                </a:solidFill>
                <a:latin typeface="Arial Bold"/>
                <a:ea typeface="Arial Bold"/>
                <a:cs typeface="Arial Bold"/>
                <a:sym typeface="Arial Bold"/>
              </a:rPr>
              <a:t>Senior Design Project Review</a:t>
            </a:r>
          </a:p>
          <a:p>
            <a:pPr algn="ctr">
              <a:lnSpc>
                <a:spcPts val="2640"/>
              </a:lnSpc>
            </a:pPr>
            <a:r>
              <a:rPr lang="en-US" sz="2200" spc="-78">
                <a:solidFill>
                  <a:srgbClr val="000000"/>
                </a:solidFill>
                <a:latin typeface="Bebas Neue"/>
                <a:ea typeface="Bebas Neue"/>
                <a:cs typeface="Bebas Neue"/>
                <a:sym typeface="Bebas Neue"/>
              </a:rPr>
              <a:t>			</a:t>
            </a:r>
          </a:p>
          <a:p>
            <a:pPr algn="ctr">
              <a:lnSpc>
                <a:spcPts val="6719"/>
              </a:lnSpc>
            </a:pPr>
            <a:r>
              <a:rPr lang="en-US" sz="5599" b="1" spc="-1">
                <a:solidFill>
                  <a:srgbClr val="572314"/>
                </a:solidFill>
                <a:latin typeface="Arial Bold"/>
                <a:ea typeface="Arial Bold"/>
                <a:cs typeface="Arial Bold"/>
                <a:sym typeface="Arial Bold"/>
              </a:rPr>
              <a:t>AI System for Predicting Drug Combination Effects in Cancer Cells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5648384" y="5349209"/>
            <a:ext cx="4576267" cy="581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60"/>
              </a:lnSpc>
            </a:pPr>
            <a:r>
              <a:rPr lang="en-US" sz="3383" b="1" spc="-1">
                <a:solidFill>
                  <a:srgbClr val="FF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SDP ID: 20250917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14283" y="6186146"/>
            <a:ext cx="7002302" cy="64867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864" b="1" spc="-1">
                <a:solidFill>
                  <a:srgbClr val="FF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Presented By:</a:t>
            </a:r>
          </a:p>
          <a:p>
            <a:pPr algn="l">
              <a:lnSpc>
                <a:spcPts val="3437"/>
              </a:lnSpc>
            </a:pPr>
            <a:r>
              <a:rPr lang="en-US" sz="2864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Name of the Student(s) with Regd. No.:</a:t>
            </a:r>
          </a:p>
          <a:p>
            <a:pPr algn="l">
              <a:lnSpc>
                <a:spcPts val="3437"/>
              </a:lnSpc>
            </a:pPr>
            <a:r>
              <a:rPr lang="en-US" sz="2864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VENKATA SUHAS BODDU (22BCE8332)</a:t>
            </a:r>
          </a:p>
          <a:p>
            <a:pPr algn="l">
              <a:lnSpc>
                <a:spcPts val="3437"/>
              </a:lnSpc>
            </a:pPr>
            <a:r>
              <a:rPr lang="en-US" sz="2864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SIRAMDASU LALITH KUMAR (22BCE9938)</a:t>
            </a:r>
          </a:p>
          <a:p>
            <a:pPr algn="l">
              <a:lnSpc>
                <a:spcPts val="3437"/>
              </a:lnSpc>
            </a:pPr>
            <a:r>
              <a:rPr lang="en-US" sz="2864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NARU JYOTHIKA REDDY (22BCE8256)</a:t>
            </a:r>
          </a:p>
          <a:p>
            <a:pPr algn="l">
              <a:lnSpc>
                <a:spcPts val="3437"/>
              </a:lnSpc>
            </a:pPr>
            <a:endParaRPr lang="en-US" sz="2864" b="1">
              <a:solidFill>
                <a:srgbClr val="000000"/>
              </a:solidFill>
              <a:latin typeface="Calibri (MS) Bold"/>
              <a:ea typeface="Calibri (MS) Bold"/>
              <a:cs typeface="Calibri (MS) Bold"/>
              <a:sym typeface="Calibri (MS) Bold"/>
            </a:endParaRPr>
          </a:p>
          <a:p>
            <a:pPr algn="l">
              <a:lnSpc>
                <a:spcPts val="3437"/>
              </a:lnSpc>
            </a:pPr>
            <a:endParaRPr lang="en-US" sz="2864" b="1">
              <a:solidFill>
                <a:srgbClr val="000000"/>
              </a:solidFill>
              <a:latin typeface="Calibri (MS) Bold"/>
              <a:ea typeface="Calibri (MS) Bold"/>
              <a:cs typeface="Calibri (MS) Bold"/>
              <a:sym typeface="Calibri (MS) Bold"/>
            </a:endParaRPr>
          </a:p>
          <a:p>
            <a:pPr algn="l">
              <a:lnSpc>
                <a:spcPts val="3437"/>
              </a:lnSpc>
            </a:pPr>
            <a:endParaRPr lang="en-US" sz="2864" b="1">
              <a:solidFill>
                <a:srgbClr val="000000"/>
              </a:solidFill>
              <a:latin typeface="Calibri (MS) Bold"/>
              <a:ea typeface="Calibri (MS) Bold"/>
              <a:cs typeface="Calibri (MS) Bold"/>
              <a:sym typeface="Calibri (MS) Bold"/>
            </a:endParaRPr>
          </a:p>
          <a:p>
            <a:pPr algn="l">
              <a:lnSpc>
                <a:spcPts val="3437"/>
              </a:lnSpc>
            </a:pPr>
            <a:endParaRPr lang="en-US" sz="2864" b="1">
              <a:solidFill>
                <a:srgbClr val="000000"/>
              </a:solidFill>
              <a:latin typeface="Calibri (MS) Bold"/>
              <a:ea typeface="Calibri (MS) Bold"/>
              <a:cs typeface="Calibri (MS) Bold"/>
              <a:sym typeface="Calibri (MS) Bold"/>
            </a:endParaRPr>
          </a:p>
          <a:p>
            <a:pPr algn="l">
              <a:lnSpc>
                <a:spcPts val="3437"/>
              </a:lnSpc>
            </a:pPr>
            <a:endParaRPr lang="en-US" sz="2864" b="1">
              <a:solidFill>
                <a:srgbClr val="000000"/>
              </a:solidFill>
              <a:latin typeface="Calibri (MS) Bold"/>
              <a:ea typeface="Calibri (MS) Bold"/>
              <a:cs typeface="Calibri (MS) Bold"/>
              <a:sym typeface="Calibri (MS) Bold"/>
            </a:endParaRPr>
          </a:p>
          <a:p>
            <a:pPr algn="l">
              <a:lnSpc>
                <a:spcPts val="3437"/>
              </a:lnSpc>
            </a:pPr>
            <a:endParaRPr lang="en-US" sz="2864" b="1">
              <a:solidFill>
                <a:srgbClr val="000000"/>
              </a:solidFill>
              <a:latin typeface="Calibri (MS) Bold"/>
              <a:ea typeface="Calibri (MS) Bold"/>
              <a:cs typeface="Calibri (MS) Bold"/>
              <a:sym typeface="Calibri (MS) Bold"/>
            </a:endParaRPr>
          </a:p>
          <a:p>
            <a:pPr algn="l">
              <a:lnSpc>
                <a:spcPts val="3437"/>
              </a:lnSpc>
            </a:pPr>
            <a:endParaRPr lang="en-US" sz="2864" b="1">
              <a:solidFill>
                <a:srgbClr val="000000"/>
              </a:solidFill>
              <a:latin typeface="Calibri (MS) Bold"/>
              <a:ea typeface="Calibri (MS) Bold"/>
              <a:cs typeface="Calibri (MS) Bold"/>
              <a:sym typeface="Calibri (MS) Bold"/>
            </a:endParaRPr>
          </a:p>
          <a:p>
            <a:pPr algn="l">
              <a:lnSpc>
                <a:spcPts val="3437"/>
              </a:lnSpc>
            </a:pPr>
            <a:endParaRPr lang="en-US" sz="2864" b="1">
              <a:solidFill>
                <a:srgbClr val="000000"/>
              </a:solidFill>
              <a:latin typeface="Calibri (MS) Bold"/>
              <a:ea typeface="Calibri (MS) Bold"/>
              <a:cs typeface="Calibri (MS) Bold"/>
              <a:sym typeface="Calibri (MS) Bold"/>
            </a:endParaRPr>
          </a:p>
          <a:p>
            <a:pPr algn="l">
              <a:lnSpc>
                <a:spcPts val="3437"/>
              </a:lnSpc>
            </a:pPr>
            <a:endParaRPr lang="en-US" sz="2864" b="1">
              <a:solidFill>
                <a:srgbClr val="000000"/>
              </a:solidFill>
              <a:latin typeface="Calibri (MS) Bold"/>
              <a:ea typeface="Calibri (MS) Bold"/>
              <a:cs typeface="Calibri (MS) Bold"/>
              <a:sym typeface="Calibri (MS) Bold"/>
            </a:endParaRPr>
          </a:p>
          <a:p>
            <a:pPr algn="l">
              <a:lnSpc>
                <a:spcPts val="3437"/>
              </a:lnSpc>
            </a:pPr>
            <a:endParaRPr lang="en-US" sz="2864" b="1">
              <a:solidFill>
                <a:srgbClr val="000000"/>
              </a:solidFill>
              <a:latin typeface="Calibri (MS) Bold"/>
              <a:ea typeface="Calibri (MS) Bold"/>
              <a:cs typeface="Calibri (MS) Bold"/>
              <a:sym typeface="Calibri (MS) Bold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11280229" y="8361302"/>
            <a:ext cx="7505843" cy="18616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00"/>
              </a:lnSpc>
            </a:pPr>
            <a:r>
              <a:rPr lang="en-US" sz="4000" b="1" spc="-1">
                <a:solidFill>
                  <a:srgbClr val="FF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SCOPE</a:t>
            </a:r>
          </a:p>
          <a:p>
            <a:pPr algn="ctr">
              <a:lnSpc>
                <a:spcPts val="4320"/>
              </a:lnSpc>
            </a:pPr>
            <a:r>
              <a:rPr lang="en-US" sz="3600" b="1" spc="-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VIT-AP University,</a:t>
            </a:r>
          </a:p>
          <a:p>
            <a:pPr algn="ctr">
              <a:lnSpc>
                <a:spcPts val="4320"/>
              </a:lnSpc>
            </a:pPr>
            <a:r>
              <a:rPr lang="en-US" sz="3600" b="1" spc="-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Amravati, India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17227439" y="9458096"/>
            <a:ext cx="913676" cy="713880"/>
            <a:chOff x="0" y="0"/>
            <a:chExt cx="1218235" cy="95184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218240" cy="951840"/>
            </a:xfrm>
            <a:custGeom>
              <a:avLst/>
              <a:gdLst/>
              <a:ahLst/>
              <a:cxnLst/>
              <a:rect l="l" t="t" r="r" b="b"/>
              <a:pathLst>
                <a:path w="1218240" h="951840">
                  <a:moveTo>
                    <a:pt x="0" y="0"/>
                  </a:moveTo>
                  <a:lnTo>
                    <a:pt x="1218240" y="0"/>
                  </a:lnTo>
                  <a:lnTo>
                    <a:pt x="1218240" y="951840"/>
                  </a:lnTo>
                  <a:lnTo>
                    <a:pt x="0" y="9518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50246" r="-50246"/>
              </a:stretch>
            </a:blipFill>
          </p:spPr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1218235" cy="999465"/>
            </a:xfrm>
            <a:prstGeom prst="rect">
              <a:avLst/>
            </a:prstGeom>
          </p:spPr>
          <p:txBody>
            <a:bodyPr lIns="0" tIns="0" rIns="0" bIns="0" rtlCol="0" anchor="b"/>
            <a:lstStyle/>
            <a:p>
              <a:pPr algn="ctr">
                <a:lnSpc>
                  <a:spcPts val="2879"/>
                </a:lnSpc>
              </a:pPr>
              <a:r>
                <a:rPr lang="en-US" sz="2400" spc="-1">
                  <a:solidFill>
                    <a:srgbClr val="B5A989"/>
                  </a:solidFill>
                  <a:latin typeface="Gill Sans Light"/>
                  <a:ea typeface="Gill Sans Light"/>
                  <a:cs typeface="Gill Sans Light"/>
                  <a:sym typeface="Gill Sans Light"/>
                </a:rPr>
                <a:t>1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5088057" y="115024"/>
            <a:ext cx="3053067" cy="774964"/>
            <a:chOff x="0" y="0"/>
            <a:chExt cx="4070756" cy="1033285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4070731" cy="1033272"/>
            </a:xfrm>
            <a:custGeom>
              <a:avLst/>
              <a:gdLst/>
              <a:ahLst/>
              <a:cxnLst/>
              <a:rect l="l" t="t" r="r" b="b"/>
              <a:pathLst>
                <a:path w="4070731" h="1033272">
                  <a:moveTo>
                    <a:pt x="0" y="0"/>
                  </a:moveTo>
                  <a:lnTo>
                    <a:pt x="4070731" y="0"/>
                  </a:lnTo>
                  <a:lnTo>
                    <a:pt x="4070731" y="1033272"/>
                  </a:lnTo>
                  <a:lnTo>
                    <a:pt x="0" y="10332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10989" b="-10989"/>
              </a:stretch>
            </a:blipFill>
          </p:spPr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08362" y="349577"/>
            <a:ext cx="16723852" cy="1713957"/>
            <a:chOff x="0" y="0"/>
            <a:chExt cx="22298470" cy="228527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2298475" cy="2285280"/>
            </a:xfrm>
            <a:custGeom>
              <a:avLst/>
              <a:gdLst/>
              <a:ahLst/>
              <a:cxnLst/>
              <a:rect l="l" t="t" r="r" b="b"/>
              <a:pathLst>
                <a:path w="22298475" h="2285280">
                  <a:moveTo>
                    <a:pt x="0" y="0"/>
                  </a:moveTo>
                  <a:lnTo>
                    <a:pt x="22298475" y="0"/>
                  </a:lnTo>
                  <a:lnTo>
                    <a:pt x="22298475" y="2285280"/>
                  </a:lnTo>
                  <a:lnTo>
                    <a:pt x="0" y="2285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40124" b="-140123"/>
              </a:stretch>
            </a:blipFill>
          </p:spPr>
        </p:sp>
        <p:sp>
          <p:nvSpPr>
            <p:cNvPr id="4" name="TextBox 4"/>
            <p:cNvSpPr txBox="1"/>
            <p:nvPr/>
          </p:nvSpPr>
          <p:spPr>
            <a:xfrm>
              <a:off x="0" y="9525"/>
              <a:ext cx="22298470" cy="227575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007"/>
                </a:lnSpc>
              </a:pPr>
              <a:r>
                <a:rPr lang="en-US" sz="5216" b="1" spc="-1">
                  <a:solidFill>
                    <a:srgbClr val="8A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Presentation Outline</a:t>
              </a:r>
            </a:p>
            <a:p>
              <a:pPr algn="l">
                <a:lnSpc>
                  <a:spcPts val="5007"/>
                </a:lnSpc>
              </a:pPr>
              <a:endParaRPr lang="en-US" sz="5216" b="1" spc="-1">
                <a:solidFill>
                  <a:srgbClr val="8A0000"/>
                </a:solidFill>
                <a:latin typeface="Calibri (MS) Bold"/>
                <a:ea typeface="Calibri (MS) Bold"/>
                <a:cs typeface="Calibri (MS) Bold"/>
                <a:sym typeface="Calibri (MS) Bold"/>
              </a:endParaRPr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914667" y="1469898"/>
            <a:ext cx="16769610" cy="6410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44627" lvl="1" indent="-372313" algn="l">
              <a:lnSpc>
                <a:spcPts val="3839"/>
              </a:lnSpc>
              <a:buFont typeface="Arial"/>
              <a:buChar char="•"/>
            </a:pPr>
            <a:r>
              <a:rPr lang="en-US" sz="3199" spc="-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Introduction</a:t>
            </a:r>
          </a:p>
          <a:p>
            <a:pPr marL="1586793" lvl="2" indent="-528931" algn="l">
              <a:lnSpc>
                <a:spcPts val="3360"/>
              </a:lnSpc>
              <a:buFont typeface="Arial"/>
              <a:buChar char="⚬"/>
            </a:pPr>
            <a:r>
              <a:rPr lang="en-US" sz="2800" spc="-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Project Overview and Problem Statement</a:t>
            </a:r>
          </a:p>
          <a:p>
            <a:pPr marL="1586793" lvl="2" indent="-528931" algn="l">
              <a:lnSpc>
                <a:spcPts val="3360"/>
              </a:lnSpc>
              <a:buFont typeface="Arial"/>
              <a:buChar char="⚬"/>
            </a:pPr>
            <a:r>
              <a:rPr lang="en-US" sz="2800" spc="-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Motivations </a:t>
            </a:r>
          </a:p>
          <a:p>
            <a:pPr marL="744627" lvl="1" indent="-372313" algn="l">
              <a:lnSpc>
                <a:spcPts val="3839"/>
              </a:lnSpc>
              <a:buFont typeface="Arial"/>
              <a:buChar char="•"/>
            </a:pPr>
            <a:r>
              <a:rPr lang="en-US" sz="3199" spc="-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Background &amp; Related Work/ Literature Review</a:t>
            </a:r>
          </a:p>
          <a:p>
            <a:pPr marL="1586793" lvl="2" indent="-528931" algn="l">
              <a:lnSpc>
                <a:spcPts val="3360"/>
              </a:lnSpc>
              <a:buFont typeface="Arial"/>
              <a:buChar char="⚬"/>
            </a:pPr>
            <a:r>
              <a:rPr lang="en-US" sz="2800" spc="-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Existing Solutions / Literature Survey </a:t>
            </a:r>
          </a:p>
          <a:p>
            <a:pPr marL="1586793" lvl="2" indent="-528931" algn="l">
              <a:lnSpc>
                <a:spcPts val="3360"/>
              </a:lnSpc>
              <a:buFont typeface="Arial"/>
              <a:buChar char="⚬"/>
            </a:pPr>
            <a:r>
              <a:rPr lang="en-US" sz="2800" spc="-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Gaps Identified / Improvements Over Existing Solutions</a:t>
            </a:r>
          </a:p>
          <a:p>
            <a:pPr marL="744627" lvl="1" indent="-372313" algn="l">
              <a:lnSpc>
                <a:spcPts val="3839"/>
              </a:lnSpc>
              <a:buFont typeface="Arial"/>
              <a:buChar char="•"/>
            </a:pPr>
            <a:r>
              <a:rPr lang="en-US" sz="3199" spc="-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Project Objectives</a:t>
            </a:r>
          </a:p>
          <a:p>
            <a:pPr marL="744627" lvl="1" indent="-372313" algn="l">
              <a:lnSpc>
                <a:spcPts val="3839"/>
              </a:lnSpc>
              <a:buFont typeface="Arial"/>
              <a:buChar char="•"/>
            </a:pPr>
            <a:r>
              <a:rPr lang="en-US" sz="3199" spc="-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Proposed Solution </a:t>
            </a:r>
          </a:p>
          <a:p>
            <a:pPr marL="1586793" lvl="2" indent="-528931" algn="l">
              <a:lnSpc>
                <a:spcPts val="3360"/>
              </a:lnSpc>
              <a:buFont typeface="Arial"/>
              <a:buChar char="⚬"/>
            </a:pPr>
            <a:r>
              <a:rPr lang="en-US" sz="2800" spc="-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System Architecture /Workflow Diagram /Model Diagram /Block Diagram/UML diagrams</a:t>
            </a:r>
          </a:p>
          <a:p>
            <a:pPr marL="1586793" lvl="2" indent="-528931" algn="l">
              <a:lnSpc>
                <a:spcPts val="3360"/>
              </a:lnSpc>
              <a:buFont typeface="Arial"/>
              <a:buChar char="⚬"/>
            </a:pPr>
            <a:r>
              <a:rPr lang="en-US" sz="2800" spc="-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Key Components/Features/Modules</a:t>
            </a:r>
          </a:p>
          <a:p>
            <a:pPr marL="1586793" lvl="2" indent="-528931" algn="l">
              <a:lnSpc>
                <a:spcPts val="3360"/>
              </a:lnSpc>
              <a:buFont typeface="Arial"/>
              <a:buChar char="⚬"/>
            </a:pPr>
            <a:r>
              <a:rPr lang="en-US" sz="2800" spc="-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Algorithms Used/Technologies, Frameworks, and Tools Used</a:t>
            </a:r>
          </a:p>
          <a:p>
            <a:pPr marL="744627" lvl="1" indent="-372313" algn="l">
              <a:lnSpc>
                <a:spcPts val="3839"/>
              </a:lnSpc>
              <a:buFont typeface="Arial"/>
              <a:buChar char="•"/>
            </a:pPr>
            <a:r>
              <a:rPr lang="en-US" sz="3199" spc="-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Simulation and Results </a:t>
            </a:r>
          </a:p>
          <a:p>
            <a:pPr marL="744627" lvl="1" indent="-372313" algn="l">
              <a:lnSpc>
                <a:spcPts val="3839"/>
              </a:lnSpc>
              <a:buFont typeface="Arial"/>
              <a:buChar char="•"/>
            </a:pPr>
            <a:r>
              <a:rPr lang="en-US" sz="3199" spc="-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Summary ( Findings, Limitations, Future Directions )</a:t>
            </a:r>
          </a:p>
          <a:p>
            <a:pPr marL="744627" lvl="2" indent="-248209" algn="l">
              <a:lnSpc>
                <a:spcPts val="3839"/>
              </a:lnSpc>
              <a:buFont typeface="Arial"/>
              <a:buChar char="⚬"/>
            </a:pPr>
            <a:r>
              <a:rPr lang="en-US" sz="3199" spc="-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References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15048652" y="240306"/>
            <a:ext cx="3053067" cy="774964"/>
            <a:chOff x="0" y="0"/>
            <a:chExt cx="4070756" cy="1033285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4070731" cy="1033272"/>
            </a:xfrm>
            <a:custGeom>
              <a:avLst/>
              <a:gdLst/>
              <a:ahLst/>
              <a:cxnLst/>
              <a:rect l="l" t="t" r="r" b="b"/>
              <a:pathLst>
                <a:path w="4070731" h="1033272">
                  <a:moveTo>
                    <a:pt x="0" y="0"/>
                  </a:moveTo>
                  <a:lnTo>
                    <a:pt x="4070731" y="0"/>
                  </a:lnTo>
                  <a:lnTo>
                    <a:pt x="4070731" y="1033272"/>
                  </a:lnTo>
                  <a:lnTo>
                    <a:pt x="0" y="10332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10989" b="-10989"/>
              </a:stretch>
            </a:blipFill>
          </p:spPr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195288" y="0"/>
            <a:ext cx="5433014" cy="1713960"/>
            <a:chOff x="0" y="0"/>
            <a:chExt cx="7244018" cy="228528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7244024" cy="2285284"/>
            </a:xfrm>
            <a:custGeom>
              <a:avLst/>
              <a:gdLst/>
              <a:ahLst/>
              <a:cxnLst/>
              <a:rect l="l" t="t" r="r" b="b"/>
              <a:pathLst>
                <a:path w="7244024" h="2285284">
                  <a:moveTo>
                    <a:pt x="0" y="0"/>
                  </a:moveTo>
                  <a:lnTo>
                    <a:pt x="7244024" y="0"/>
                  </a:lnTo>
                  <a:lnTo>
                    <a:pt x="7244024" y="2285284"/>
                  </a:lnTo>
                  <a:lnTo>
                    <a:pt x="0" y="22852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40123" r="-207818" b="-140123"/>
              </a:stretch>
            </a:blipFill>
          </p:spPr>
        </p:sp>
        <p:sp>
          <p:nvSpPr>
            <p:cNvPr id="4" name="TextBox 4"/>
            <p:cNvSpPr txBox="1"/>
            <p:nvPr/>
          </p:nvSpPr>
          <p:spPr>
            <a:xfrm>
              <a:off x="0" y="9525"/>
              <a:ext cx="7244018" cy="227575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007"/>
                </a:lnSpc>
              </a:pPr>
              <a:r>
                <a:rPr lang="en-US" sz="5216" b="1" spc="-1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Project Overview </a:t>
              </a:r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0" y="2135236"/>
            <a:ext cx="9144000" cy="72839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18142" lvl="1" indent="-309071" algn="l">
              <a:lnSpc>
                <a:spcPts val="3188"/>
              </a:lnSpc>
              <a:buFont typeface="Arial"/>
              <a:buChar char="•"/>
            </a:pPr>
            <a:r>
              <a:rPr lang="en-US" sz="2656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Cancer is one of the most complex diseases, involving multiple biological pathways that control cell growth and survival, making treatment challenging.</a:t>
            </a:r>
          </a:p>
          <a:p>
            <a:pPr algn="l">
              <a:lnSpc>
                <a:spcPts val="3188"/>
              </a:lnSpc>
            </a:pPr>
            <a:endParaRPr lang="en-US" sz="2656" b="1">
              <a:solidFill>
                <a:srgbClr val="000000"/>
              </a:solidFill>
              <a:latin typeface="Calibri (MS) Bold"/>
              <a:ea typeface="Calibri (MS) Bold"/>
              <a:cs typeface="Calibri (MS) Bold"/>
              <a:sym typeface="Calibri (MS) Bold"/>
            </a:endParaRPr>
          </a:p>
          <a:p>
            <a:pPr marL="618142" lvl="1" indent="-309071" algn="l">
              <a:lnSpc>
                <a:spcPts val="3188"/>
              </a:lnSpc>
              <a:buFont typeface="Arial"/>
              <a:buChar char="•"/>
            </a:pPr>
            <a:r>
              <a:rPr lang="en-US" sz="2656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To improve treatment effectiveness, researchers often use combinations of anti-cancer drugs instead of relying on a single drug. When two drugs work better together, the effect is called synergy, whereas interfering drug interactions are called antagonism.</a:t>
            </a:r>
          </a:p>
          <a:p>
            <a:pPr algn="l">
              <a:lnSpc>
                <a:spcPts val="3188"/>
              </a:lnSpc>
            </a:pPr>
            <a:endParaRPr lang="en-US" sz="2656" b="1">
              <a:solidFill>
                <a:srgbClr val="000000"/>
              </a:solidFill>
              <a:latin typeface="Calibri (MS) Bold"/>
              <a:ea typeface="Calibri (MS) Bold"/>
              <a:cs typeface="Calibri (MS) Bold"/>
              <a:sym typeface="Calibri (MS) Bold"/>
            </a:endParaRPr>
          </a:p>
          <a:p>
            <a:pPr marL="618142" lvl="1" indent="-309071" algn="l">
              <a:lnSpc>
                <a:spcPts val="3188"/>
              </a:lnSpc>
              <a:buFont typeface="Arial"/>
              <a:buChar char="•"/>
            </a:pPr>
            <a:r>
              <a:rPr lang="en-US" sz="2656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However, experimentally testing thousands of possible drug combinations is expensive and time-consuming. To address this, SynergyLens uses machine learning and high-dimensional omics data to predict the ComboScore of drug pairs, supporting researchers in prioritizing potentially effective drug combinations for further experimental analysis.</a:t>
            </a:r>
          </a:p>
          <a:p>
            <a:pPr algn="l">
              <a:lnSpc>
                <a:spcPts val="3188"/>
              </a:lnSpc>
            </a:pPr>
            <a:endParaRPr lang="en-US" sz="2656" b="1">
              <a:solidFill>
                <a:srgbClr val="000000"/>
              </a:solidFill>
              <a:latin typeface="Calibri (MS) Bold"/>
              <a:ea typeface="Calibri (MS) Bold"/>
              <a:cs typeface="Calibri (MS) Bold"/>
              <a:sym typeface="Calibri (MS) Bold"/>
            </a:endParaRPr>
          </a:p>
        </p:txBody>
      </p:sp>
      <p:grpSp>
        <p:nvGrpSpPr>
          <p:cNvPr id="6" name="Group 6"/>
          <p:cNvGrpSpPr/>
          <p:nvPr/>
        </p:nvGrpSpPr>
        <p:grpSpPr>
          <a:xfrm>
            <a:off x="17227439" y="9458096"/>
            <a:ext cx="913676" cy="713880"/>
            <a:chOff x="0" y="0"/>
            <a:chExt cx="1218235" cy="95184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218240" cy="951840"/>
            </a:xfrm>
            <a:custGeom>
              <a:avLst/>
              <a:gdLst/>
              <a:ahLst/>
              <a:cxnLst/>
              <a:rect l="l" t="t" r="r" b="b"/>
              <a:pathLst>
                <a:path w="1218240" h="951840">
                  <a:moveTo>
                    <a:pt x="0" y="0"/>
                  </a:moveTo>
                  <a:lnTo>
                    <a:pt x="1218240" y="0"/>
                  </a:lnTo>
                  <a:lnTo>
                    <a:pt x="1218240" y="951840"/>
                  </a:lnTo>
                  <a:lnTo>
                    <a:pt x="0" y="951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0246" r="-50246"/>
              </a:stretch>
            </a:blipFill>
          </p:spPr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1218235" cy="999465"/>
            </a:xfrm>
            <a:prstGeom prst="rect">
              <a:avLst/>
            </a:prstGeom>
          </p:spPr>
          <p:txBody>
            <a:bodyPr lIns="0" tIns="0" rIns="0" bIns="0" rtlCol="0" anchor="b"/>
            <a:lstStyle/>
            <a:p>
              <a:pPr algn="ctr">
                <a:lnSpc>
                  <a:spcPts val="2879"/>
                </a:lnSpc>
              </a:pPr>
              <a:r>
                <a:rPr lang="en-US" sz="2400" spc="-1">
                  <a:solidFill>
                    <a:srgbClr val="B5A989"/>
                  </a:solidFill>
                  <a:latin typeface="Gill Sans Light"/>
                  <a:ea typeface="Gill Sans Light"/>
                  <a:cs typeface="Gill Sans Light"/>
                  <a:sym typeface="Gill Sans Light"/>
                </a:rPr>
                <a:t>2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5048652" y="240306"/>
            <a:ext cx="3053067" cy="774964"/>
            <a:chOff x="0" y="0"/>
            <a:chExt cx="4070756" cy="1033285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4070731" cy="1033272"/>
            </a:xfrm>
            <a:custGeom>
              <a:avLst/>
              <a:gdLst/>
              <a:ahLst/>
              <a:cxnLst/>
              <a:rect l="l" t="t" r="r" b="b"/>
              <a:pathLst>
                <a:path w="4070731" h="1033272">
                  <a:moveTo>
                    <a:pt x="0" y="0"/>
                  </a:moveTo>
                  <a:lnTo>
                    <a:pt x="4070731" y="0"/>
                  </a:lnTo>
                  <a:lnTo>
                    <a:pt x="4070731" y="1033272"/>
                  </a:lnTo>
                  <a:lnTo>
                    <a:pt x="0" y="10332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10989" b="-10989"/>
              </a:stretch>
            </a:blipFill>
          </p:spPr>
        </p:sp>
      </p:grpSp>
      <p:grpSp>
        <p:nvGrpSpPr>
          <p:cNvPr id="11" name="Group 11"/>
          <p:cNvGrpSpPr/>
          <p:nvPr/>
        </p:nvGrpSpPr>
        <p:grpSpPr>
          <a:xfrm>
            <a:off x="183260" y="-229192"/>
            <a:ext cx="3522501" cy="1713960"/>
            <a:chOff x="0" y="0"/>
            <a:chExt cx="4696668" cy="228528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4696673" cy="2285284"/>
            </a:xfrm>
            <a:custGeom>
              <a:avLst/>
              <a:gdLst/>
              <a:ahLst/>
              <a:cxnLst/>
              <a:rect l="l" t="t" r="r" b="b"/>
              <a:pathLst>
                <a:path w="4696673" h="2285284">
                  <a:moveTo>
                    <a:pt x="0" y="0"/>
                  </a:moveTo>
                  <a:lnTo>
                    <a:pt x="4696673" y="0"/>
                  </a:lnTo>
                  <a:lnTo>
                    <a:pt x="4696673" y="2285284"/>
                  </a:lnTo>
                  <a:lnTo>
                    <a:pt x="0" y="22852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40123" r="-374771" b="-140123"/>
              </a:stretch>
            </a:blipFill>
          </p:spPr>
        </p:sp>
        <p:sp>
          <p:nvSpPr>
            <p:cNvPr id="13" name="TextBox 13"/>
            <p:cNvSpPr txBox="1"/>
            <p:nvPr/>
          </p:nvSpPr>
          <p:spPr>
            <a:xfrm>
              <a:off x="0" y="9525"/>
              <a:ext cx="4696668" cy="227575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007"/>
                </a:lnSpc>
              </a:pPr>
              <a:r>
                <a:rPr lang="en-US" sz="5216" b="1" spc="-1">
                  <a:solidFill>
                    <a:srgbClr val="8A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Introduction</a:t>
              </a:r>
            </a:p>
          </p:txBody>
        </p:sp>
      </p:grpSp>
      <p:sp>
        <p:nvSpPr>
          <p:cNvPr id="14" name="Freeform 14"/>
          <p:cNvSpPr/>
          <p:nvPr/>
        </p:nvSpPr>
        <p:spPr>
          <a:xfrm>
            <a:off x="9144000" y="2540293"/>
            <a:ext cx="9255849" cy="5206415"/>
          </a:xfrm>
          <a:custGeom>
            <a:avLst/>
            <a:gdLst/>
            <a:ahLst/>
            <a:cxnLst/>
            <a:rect l="l" t="t" r="r" b="b"/>
            <a:pathLst>
              <a:path w="9255849" h="5206415">
                <a:moveTo>
                  <a:pt x="0" y="0"/>
                </a:moveTo>
                <a:lnTo>
                  <a:pt x="9255849" y="0"/>
                </a:lnTo>
                <a:lnTo>
                  <a:pt x="9255849" y="5206414"/>
                </a:lnTo>
                <a:lnTo>
                  <a:pt x="0" y="520641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250614" y="918813"/>
            <a:ext cx="5786771" cy="1713960"/>
            <a:chOff x="0" y="0"/>
            <a:chExt cx="7715695" cy="228528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7715700" cy="2285284"/>
            </a:xfrm>
            <a:custGeom>
              <a:avLst/>
              <a:gdLst/>
              <a:ahLst/>
              <a:cxnLst/>
              <a:rect l="l" t="t" r="r" b="b"/>
              <a:pathLst>
                <a:path w="7715700" h="2285284">
                  <a:moveTo>
                    <a:pt x="0" y="0"/>
                  </a:moveTo>
                  <a:lnTo>
                    <a:pt x="7715700" y="0"/>
                  </a:lnTo>
                  <a:lnTo>
                    <a:pt x="7715700" y="2285284"/>
                  </a:lnTo>
                  <a:lnTo>
                    <a:pt x="0" y="22852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40123" r="-189001" b="-140123"/>
              </a:stretch>
            </a:blipFill>
          </p:spPr>
        </p:sp>
        <p:sp>
          <p:nvSpPr>
            <p:cNvPr id="4" name="TextBox 4"/>
            <p:cNvSpPr txBox="1"/>
            <p:nvPr/>
          </p:nvSpPr>
          <p:spPr>
            <a:xfrm>
              <a:off x="0" y="9525"/>
              <a:ext cx="7715695" cy="227575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007"/>
                </a:lnSpc>
              </a:pPr>
              <a:r>
                <a:rPr lang="en-US" sz="5216" b="1" spc="-1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Problem Statement</a:t>
              </a:r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854312" y="2513920"/>
            <a:ext cx="16655577" cy="6362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48456" lvl="1" indent="-374228" algn="l">
              <a:lnSpc>
                <a:spcPts val="4160"/>
              </a:lnSpc>
              <a:buFont typeface="Arial"/>
              <a:buChar char="•"/>
            </a:pPr>
            <a:r>
              <a:rPr lang="en-US" sz="3466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Identifying effective anti-cancer drug combinations is a major challenge due to the enormous number of possible drug pairs and the complex biological interactions across different cancer cell lines. Experimental evaluation of every combination is costly, time-consuming, and computationally impractical.</a:t>
            </a:r>
          </a:p>
          <a:p>
            <a:pPr marL="748456" lvl="1" indent="-374228" algn="l">
              <a:lnSpc>
                <a:spcPts val="4160"/>
              </a:lnSpc>
              <a:buFont typeface="Arial"/>
              <a:buChar char="•"/>
            </a:pPr>
            <a:r>
              <a:rPr lang="en-US" sz="3466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Most existing approaches focus only on classifying drug interactions as synergistic or antagonistic, while providing limited interpretability of the biological factors influencing predictions.</a:t>
            </a:r>
          </a:p>
          <a:p>
            <a:pPr marL="748456" lvl="1" indent="-374228" algn="l">
              <a:lnSpc>
                <a:spcPts val="4160"/>
              </a:lnSpc>
              <a:buFont typeface="Arial"/>
              <a:buChar char="•"/>
            </a:pPr>
            <a:r>
              <a:rPr lang="en-US" sz="3466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This project addresses these challenges by developing an interpretable machine learning framework that predicts continuous ComboScore values using high-dimensional cell line features and drug-related features, supporting efficient prioritisation of potentially effective drug combinations for further experimental analysis.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17227439" y="9458096"/>
            <a:ext cx="913676" cy="713880"/>
            <a:chOff x="0" y="0"/>
            <a:chExt cx="1218235" cy="95184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218240" cy="951840"/>
            </a:xfrm>
            <a:custGeom>
              <a:avLst/>
              <a:gdLst/>
              <a:ahLst/>
              <a:cxnLst/>
              <a:rect l="l" t="t" r="r" b="b"/>
              <a:pathLst>
                <a:path w="1218240" h="951840">
                  <a:moveTo>
                    <a:pt x="0" y="0"/>
                  </a:moveTo>
                  <a:lnTo>
                    <a:pt x="1218240" y="0"/>
                  </a:lnTo>
                  <a:lnTo>
                    <a:pt x="1218240" y="951840"/>
                  </a:lnTo>
                  <a:lnTo>
                    <a:pt x="0" y="951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0246" r="-50246"/>
              </a:stretch>
            </a:blipFill>
          </p:spPr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1218235" cy="999465"/>
            </a:xfrm>
            <a:prstGeom prst="rect">
              <a:avLst/>
            </a:prstGeom>
          </p:spPr>
          <p:txBody>
            <a:bodyPr lIns="0" tIns="0" rIns="0" bIns="0" rtlCol="0" anchor="b"/>
            <a:lstStyle/>
            <a:p>
              <a:pPr algn="ctr">
                <a:lnSpc>
                  <a:spcPts val="2879"/>
                </a:lnSpc>
              </a:pPr>
              <a:r>
                <a:rPr lang="en-US" sz="2400" spc="-1">
                  <a:solidFill>
                    <a:srgbClr val="B5A989"/>
                  </a:solidFill>
                  <a:latin typeface="Gill Sans Light"/>
                  <a:ea typeface="Gill Sans Light"/>
                  <a:cs typeface="Gill Sans Light"/>
                  <a:sym typeface="Gill Sans Light"/>
                </a:rPr>
                <a:t>3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5048652" y="240306"/>
            <a:ext cx="3053067" cy="774964"/>
            <a:chOff x="0" y="0"/>
            <a:chExt cx="4070756" cy="1033285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4070731" cy="1033272"/>
            </a:xfrm>
            <a:custGeom>
              <a:avLst/>
              <a:gdLst/>
              <a:ahLst/>
              <a:cxnLst/>
              <a:rect l="l" t="t" r="r" b="b"/>
              <a:pathLst>
                <a:path w="4070731" h="1033272">
                  <a:moveTo>
                    <a:pt x="0" y="0"/>
                  </a:moveTo>
                  <a:lnTo>
                    <a:pt x="4070731" y="0"/>
                  </a:lnTo>
                  <a:lnTo>
                    <a:pt x="4070731" y="1033272"/>
                  </a:lnTo>
                  <a:lnTo>
                    <a:pt x="0" y="10332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10989" b="-10989"/>
              </a:stretch>
            </a:blipFill>
          </p:spPr>
        </p:sp>
      </p:grpSp>
      <p:grpSp>
        <p:nvGrpSpPr>
          <p:cNvPr id="11" name="Group 11"/>
          <p:cNvGrpSpPr/>
          <p:nvPr/>
        </p:nvGrpSpPr>
        <p:grpSpPr>
          <a:xfrm>
            <a:off x="183260" y="-229192"/>
            <a:ext cx="3522501" cy="1713960"/>
            <a:chOff x="0" y="0"/>
            <a:chExt cx="4696668" cy="228528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4696673" cy="2285284"/>
            </a:xfrm>
            <a:custGeom>
              <a:avLst/>
              <a:gdLst/>
              <a:ahLst/>
              <a:cxnLst/>
              <a:rect l="l" t="t" r="r" b="b"/>
              <a:pathLst>
                <a:path w="4696673" h="2285284">
                  <a:moveTo>
                    <a:pt x="0" y="0"/>
                  </a:moveTo>
                  <a:lnTo>
                    <a:pt x="4696673" y="0"/>
                  </a:lnTo>
                  <a:lnTo>
                    <a:pt x="4696673" y="2285284"/>
                  </a:lnTo>
                  <a:lnTo>
                    <a:pt x="0" y="22852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40123" r="-374771" b="-140123"/>
              </a:stretch>
            </a:blipFill>
          </p:spPr>
        </p:sp>
        <p:sp>
          <p:nvSpPr>
            <p:cNvPr id="13" name="TextBox 13"/>
            <p:cNvSpPr txBox="1"/>
            <p:nvPr/>
          </p:nvSpPr>
          <p:spPr>
            <a:xfrm>
              <a:off x="0" y="9525"/>
              <a:ext cx="4696668" cy="227575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007"/>
                </a:lnSpc>
              </a:pPr>
              <a:r>
                <a:rPr lang="en-US" sz="5216" b="1" spc="-1">
                  <a:solidFill>
                    <a:srgbClr val="8A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Introduction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173095" y="1028700"/>
            <a:ext cx="3466593" cy="1713960"/>
            <a:chOff x="0" y="0"/>
            <a:chExt cx="4622124" cy="228528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622129" cy="2285284"/>
            </a:xfrm>
            <a:custGeom>
              <a:avLst/>
              <a:gdLst/>
              <a:ahLst/>
              <a:cxnLst/>
              <a:rect l="l" t="t" r="r" b="b"/>
              <a:pathLst>
                <a:path w="4622129" h="2285284">
                  <a:moveTo>
                    <a:pt x="0" y="0"/>
                  </a:moveTo>
                  <a:lnTo>
                    <a:pt x="4622129" y="0"/>
                  </a:lnTo>
                  <a:lnTo>
                    <a:pt x="4622129" y="2285284"/>
                  </a:lnTo>
                  <a:lnTo>
                    <a:pt x="0" y="22852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40123" r="-382428" b="-140123"/>
              </a:stretch>
            </a:blipFill>
          </p:spPr>
        </p:sp>
        <p:sp>
          <p:nvSpPr>
            <p:cNvPr id="4" name="TextBox 4"/>
            <p:cNvSpPr txBox="1"/>
            <p:nvPr/>
          </p:nvSpPr>
          <p:spPr>
            <a:xfrm>
              <a:off x="0" y="9525"/>
              <a:ext cx="4622124" cy="227575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007"/>
                </a:lnSpc>
              </a:pPr>
              <a:r>
                <a:rPr lang="en-US" sz="5216" b="1" spc="-1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Motivations</a:t>
              </a:r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047750" y="2666460"/>
            <a:ext cx="16655577" cy="4791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48456" lvl="1" indent="-374228" algn="l">
              <a:lnSpc>
                <a:spcPts val="4160"/>
              </a:lnSpc>
              <a:buFont typeface="Arial"/>
              <a:buChar char="•"/>
            </a:pPr>
            <a:r>
              <a:rPr lang="en-US" sz="3466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Predicting effective drug combinations experimentally is expensive and time-consuming due to the enormous number of possible drug pairs.</a:t>
            </a:r>
          </a:p>
          <a:p>
            <a:pPr algn="l">
              <a:lnSpc>
                <a:spcPts val="4160"/>
              </a:lnSpc>
            </a:pPr>
            <a:endParaRPr lang="en-US" sz="3466" b="1">
              <a:solidFill>
                <a:srgbClr val="000000"/>
              </a:solidFill>
              <a:latin typeface="Calibri (MS) Bold"/>
              <a:ea typeface="Calibri (MS) Bold"/>
              <a:cs typeface="Calibri (MS) Bold"/>
              <a:sym typeface="Calibri (MS) Bold"/>
            </a:endParaRPr>
          </a:p>
          <a:p>
            <a:pPr marL="748456" lvl="1" indent="-374228" algn="l">
              <a:lnSpc>
                <a:spcPts val="4160"/>
              </a:lnSpc>
              <a:buFont typeface="Arial"/>
              <a:buChar char="•"/>
            </a:pPr>
            <a:r>
              <a:rPr lang="en-US" sz="3466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High-dimensional omics and drug-related features can help machine learning models capture complex cancer–drug interactions more effectively.</a:t>
            </a:r>
          </a:p>
          <a:p>
            <a:pPr algn="l">
              <a:lnSpc>
                <a:spcPts val="4160"/>
              </a:lnSpc>
            </a:pPr>
            <a:endParaRPr lang="en-US" sz="3466" b="1">
              <a:solidFill>
                <a:srgbClr val="000000"/>
              </a:solidFill>
              <a:latin typeface="Calibri (MS) Bold"/>
              <a:ea typeface="Calibri (MS) Bold"/>
              <a:cs typeface="Calibri (MS) Bold"/>
              <a:sym typeface="Calibri (MS) Bold"/>
            </a:endParaRPr>
          </a:p>
          <a:p>
            <a:pPr marL="748456" lvl="1" indent="-374228" algn="l">
              <a:lnSpc>
                <a:spcPts val="4160"/>
              </a:lnSpc>
              <a:buFont typeface="Arial"/>
              <a:buChar char="•"/>
            </a:pPr>
            <a:r>
              <a:rPr lang="en-US" sz="3466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SHAP-based explainability is used to understand the key biological and drug-related features influencing synergy predictions.</a:t>
            </a:r>
          </a:p>
          <a:p>
            <a:pPr algn="l">
              <a:lnSpc>
                <a:spcPts val="4160"/>
              </a:lnSpc>
            </a:pPr>
            <a:endParaRPr lang="en-US" sz="3466" b="1">
              <a:solidFill>
                <a:srgbClr val="000000"/>
              </a:solidFill>
              <a:latin typeface="Calibri (MS) Bold"/>
              <a:ea typeface="Calibri (MS) Bold"/>
              <a:cs typeface="Calibri (MS) Bold"/>
              <a:sym typeface="Calibri (MS) Bold"/>
            </a:endParaRPr>
          </a:p>
        </p:txBody>
      </p:sp>
      <p:grpSp>
        <p:nvGrpSpPr>
          <p:cNvPr id="6" name="Group 6"/>
          <p:cNvGrpSpPr/>
          <p:nvPr/>
        </p:nvGrpSpPr>
        <p:grpSpPr>
          <a:xfrm>
            <a:off x="17227439" y="9458096"/>
            <a:ext cx="913676" cy="713880"/>
            <a:chOff x="0" y="0"/>
            <a:chExt cx="1218235" cy="95184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218240" cy="951840"/>
            </a:xfrm>
            <a:custGeom>
              <a:avLst/>
              <a:gdLst/>
              <a:ahLst/>
              <a:cxnLst/>
              <a:rect l="l" t="t" r="r" b="b"/>
              <a:pathLst>
                <a:path w="1218240" h="951840">
                  <a:moveTo>
                    <a:pt x="0" y="0"/>
                  </a:moveTo>
                  <a:lnTo>
                    <a:pt x="1218240" y="0"/>
                  </a:lnTo>
                  <a:lnTo>
                    <a:pt x="1218240" y="951840"/>
                  </a:lnTo>
                  <a:lnTo>
                    <a:pt x="0" y="951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0246" r="-50246"/>
              </a:stretch>
            </a:blipFill>
          </p:spPr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1218235" cy="999465"/>
            </a:xfrm>
            <a:prstGeom prst="rect">
              <a:avLst/>
            </a:prstGeom>
          </p:spPr>
          <p:txBody>
            <a:bodyPr lIns="0" tIns="0" rIns="0" bIns="0" rtlCol="0" anchor="b"/>
            <a:lstStyle/>
            <a:p>
              <a:pPr algn="ctr">
                <a:lnSpc>
                  <a:spcPts val="2879"/>
                </a:lnSpc>
              </a:pPr>
              <a:r>
                <a:rPr lang="en-US" sz="2400" spc="-1">
                  <a:solidFill>
                    <a:srgbClr val="B5A989"/>
                  </a:solidFill>
                  <a:latin typeface="Gill Sans Light"/>
                  <a:ea typeface="Gill Sans Light"/>
                  <a:cs typeface="Gill Sans Light"/>
                  <a:sym typeface="Gill Sans Light"/>
                </a:rPr>
                <a:t>4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5048652" y="240306"/>
            <a:ext cx="3053067" cy="774964"/>
            <a:chOff x="0" y="0"/>
            <a:chExt cx="4070756" cy="1033285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4070731" cy="1033272"/>
            </a:xfrm>
            <a:custGeom>
              <a:avLst/>
              <a:gdLst/>
              <a:ahLst/>
              <a:cxnLst/>
              <a:rect l="l" t="t" r="r" b="b"/>
              <a:pathLst>
                <a:path w="4070731" h="1033272">
                  <a:moveTo>
                    <a:pt x="0" y="0"/>
                  </a:moveTo>
                  <a:lnTo>
                    <a:pt x="4070731" y="0"/>
                  </a:lnTo>
                  <a:lnTo>
                    <a:pt x="4070731" y="1033272"/>
                  </a:lnTo>
                  <a:lnTo>
                    <a:pt x="0" y="10332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10989" b="-10989"/>
              </a:stretch>
            </a:blipFill>
          </p:spPr>
        </p:sp>
      </p:grpSp>
      <p:grpSp>
        <p:nvGrpSpPr>
          <p:cNvPr id="11" name="Group 11"/>
          <p:cNvGrpSpPr/>
          <p:nvPr/>
        </p:nvGrpSpPr>
        <p:grpSpPr>
          <a:xfrm>
            <a:off x="183260" y="-229192"/>
            <a:ext cx="3522501" cy="1713960"/>
            <a:chOff x="0" y="0"/>
            <a:chExt cx="4696668" cy="228528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4696673" cy="2285284"/>
            </a:xfrm>
            <a:custGeom>
              <a:avLst/>
              <a:gdLst/>
              <a:ahLst/>
              <a:cxnLst/>
              <a:rect l="l" t="t" r="r" b="b"/>
              <a:pathLst>
                <a:path w="4696673" h="2285284">
                  <a:moveTo>
                    <a:pt x="0" y="0"/>
                  </a:moveTo>
                  <a:lnTo>
                    <a:pt x="4696673" y="0"/>
                  </a:lnTo>
                  <a:lnTo>
                    <a:pt x="4696673" y="2285284"/>
                  </a:lnTo>
                  <a:lnTo>
                    <a:pt x="0" y="22852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40123" r="-374771" b="-140123"/>
              </a:stretch>
            </a:blipFill>
          </p:spPr>
        </p:sp>
        <p:sp>
          <p:nvSpPr>
            <p:cNvPr id="13" name="TextBox 13"/>
            <p:cNvSpPr txBox="1"/>
            <p:nvPr/>
          </p:nvSpPr>
          <p:spPr>
            <a:xfrm>
              <a:off x="0" y="9525"/>
              <a:ext cx="4696668" cy="227575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007"/>
                </a:lnSpc>
              </a:pPr>
              <a:r>
                <a:rPr lang="en-US" sz="5216" b="1" spc="-1">
                  <a:solidFill>
                    <a:srgbClr val="8A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Introduction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/>
          <p:cNvSpPr/>
          <p:nvPr/>
        </p:nvSpPr>
        <p:spPr>
          <a:xfrm>
            <a:off x="41462" y="240297"/>
            <a:ext cx="16580981" cy="1713960"/>
          </a:xfrm>
          <a:custGeom>
            <a:avLst/>
            <a:gdLst/>
            <a:ahLst/>
            <a:cxnLst/>
            <a:rect l="l" t="t" r="r" b="b"/>
            <a:pathLst>
              <a:path w="22107975" h="2285280">
                <a:moveTo>
                  <a:pt x="0" y="0"/>
                </a:moveTo>
                <a:lnTo>
                  <a:pt x="22107975" y="0"/>
                </a:lnTo>
                <a:lnTo>
                  <a:pt x="22107975" y="2285280"/>
                </a:lnTo>
                <a:lnTo>
                  <a:pt x="0" y="2285280"/>
                </a:lnTo>
                <a:close/>
              </a:path>
            </a:pathLst>
          </a:custGeom>
          <a:blipFill>
            <a:blip r:embed="rId2">
              <a:alphaModFix amt="0"/>
            </a:blip>
            <a:stretch>
              <a:fillRect t="-138499" b="-138499"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17374324" y="9458096"/>
            <a:ext cx="913676" cy="713880"/>
            <a:chOff x="0" y="0"/>
            <a:chExt cx="1218235" cy="95184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218240" cy="951840"/>
            </a:xfrm>
            <a:custGeom>
              <a:avLst/>
              <a:gdLst/>
              <a:ahLst/>
              <a:cxnLst/>
              <a:rect l="l" t="t" r="r" b="b"/>
              <a:pathLst>
                <a:path w="1218240" h="951840">
                  <a:moveTo>
                    <a:pt x="0" y="0"/>
                  </a:moveTo>
                  <a:lnTo>
                    <a:pt x="1218240" y="0"/>
                  </a:lnTo>
                  <a:lnTo>
                    <a:pt x="1218240" y="951840"/>
                  </a:lnTo>
                  <a:lnTo>
                    <a:pt x="0" y="9518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50246" r="-50246"/>
              </a:stretch>
            </a:blipFill>
          </p:spPr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1218235" cy="999465"/>
            </a:xfrm>
            <a:prstGeom prst="rect">
              <a:avLst/>
            </a:prstGeom>
          </p:spPr>
          <p:txBody>
            <a:bodyPr lIns="0" tIns="0" rIns="0" bIns="0" rtlCol="0" anchor="b"/>
            <a:lstStyle/>
            <a:p>
              <a:pPr algn="ctr">
                <a:lnSpc>
                  <a:spcPts val="2879"/>
                </a:lnSpc>
              </a:pPr>
              <a:r>
                <a:rPr lang="en-US" sz="2400" spc="-1">
                  <a:solidFill>
                    <a:srgbClr val="B5A989"/>
                  </a:solidFill>
                  <a:latin typeface="Gill Sans Light"/>
                  <a:ea typeface="Gill Sans Light"/>
                  <a:cs typeface="Gill Sans Light"/>
                  <a:sym typeface="Gill Sans Light"/>
                </a:rPr>
                <a:t>5</a:t>
              </a:r>
            </a:p>
          </p:txBody>
        </p:sp>
      </p:grpSp>
      <p:pic>
        <p:nvPicPr>
          <p:cNvPr id="14" name="Picture 13">
            <a:extLst>
              <a:ext uri="{FF2B5EF4-FFF2-40B4-BE49-F238E27FC236}">
                <a16:creationId xmlns:a16="http://schemas.microsoft.com/office/drawing/2014/main" id="{28C59F0C-1884-0976-62D0-2E84165F66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54286" y="102937"/>
            <a:ext cx="16580977" cy="1713957"/>
            <a:chOff x="0" y="0"/>
            <a:chExt cx="22107970" cy="228527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2107975" cy="2285280"/>
            </a:xfrm>
            <a:custGeom>
              <a:avLst/>
              <a:gdLst/>
              <a:ahLst/>
              <a:cxnLst/>
              <a:rect l="l" t="t" r="r" b="b"/>
              <a:pathLst>
                <a:path w="22107975" h="2285280">
                  <a:moveTo>
                    <a:pt x="0" y="0"/>
                  </a:moveTo>
                  <a:lnTo>
                    <a:pt x="22107975" y="0"/>
                  </a:lnTo>
                  <a:lnTo>
                    <a:pt x="22107975" y="2285280"/>
                  </a:lnTo>
                  <a:lnTo>
                    <a:pt x="0" y="2285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38499" b="-138499"/>
              </a:stretch>
            </a:blipFill>
          </p:spPr>
        </p:sp>
        <p:sp>
          <p:nvSpPr>
            <p:cNvPr id="4" name="TextBox 4"/>
            <p:cNvSpPr txBox="1"/>
            <p:nvPr/>
          </p:nvSpPr>
          <p:spPr>
            <a:xfrm>
              <a:off x="0" y="0"/>
              <a:ext cx="22107970" cy="228527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641"/>
                </a:lnSpc>
              </a:pPr>
              <a:endParaRPr/>
            </a:p>
            <a:p>
              <a:pPr algn="l">
                <a:lnSpc>
                  <a:spcPts val="4651"/>
                </a:lnSpc>
              </a:pPr>
              <a:r>
                <a:rPr lang="en-US" sz="4845" b="1" spc="-1">
                  <a:solidFill>
                    <a:srgbClr val="8A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Background &amp; Related Work / Literature Review</a:t>
              </a:r>
            </a:p>
            <a:p>
              <a:pPr algn="l">
                <a:lnSpc>
                  <a:spcPts val="4651"/>
                </a:lnSpc>
              </a:pPr>
              <a:endParaRPr lang="en-US" sz="4845" b="1" spc="-1">
                <a:solidFill>
                  <a:srgbClr val="8A0000"/>
                </a:solidFill>
                <a:latin typeface="Calibri (MS) Bold"/>
                <a:ea typeface="Calibri (MS) Bold"/>
                <a:cs typeface="Calibri (MS) Bold"/>
                <a:sym typeface="Calibri (MS) Bold"/>
              </a:endParaRPr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523923" y="1238869"/>
            <a:ext cx="16550097" cy="71752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15272" lvl="1" indent="-307636" algn="l">
              <a:lnSpc>
                <a:spcPts val="4800"/>
              </a:lnSpc>
              <a:buFont typeface="Arial"/>
              <a:buChar char="•"/>
            </a:pPr>
            <a:r>
              <a:rPr lang="en-US" sz="4000" b="1" spc="-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Gaps Identified / Improvements over Existing Solutions</a:t>
            </a:r>
          </a:p>
          <a:p>
            <a:pPr marL="615272" lvl="1" indent="-307636" algn="l">
              <a:lnSpc>
                <a:spcPts val="4800"/>
              </a:lnSpc>
            </a:pPr>
            <a:endParaRPr lang="en-US" sz="4000" b="1" spc="-1">
              <a:solidFill>
                <a:srgbClr val="000000"/>
              </a:solidFill>
              <a:latin typeface="Calibri (MS) Bold"/>
              <a:ea typeface="Calibri (MS) Bold"/>
              <a:cs typeface="Calibri (MS) Bold"/>
              <a:sym typeface="Calibri (MS) Bold"/>
            </a:endParaRPr>
          </a:p>
          <a:p>
            <a:pPr marL="615272" lvl="1" indent="-307636" algn="l">
              <a:lnSpc>
                <a:spcPts val="4800"/>
              </a:lnSpc>
            </a:pPr>
            <a:endParaRPr lang="en-US" sz="4000" b="1" spc="-1">
              <a:solidFill>
                <a:srgbClr val="000000"/>
              </a:solidFill>
              <a:latin typeface="Calibri (MS) Bold"/>
              <a:ea typeface="Calibri (MS) Bold"/>
              <a:cs typeface="Calibri (MS) Bold"/>
              <a:sym typeface="Calibri (MS) Bold"/>
            </a:endParaRPr>
          </a:p>
          <a:p>
            <a:pPr marL="615272" lvl="1" indent="-307636" algn="l">
              <a:lnSpc>
                <a:spcPts val="4800"/>
              </a:lnSpc>
            </a:pPr>
            <a:endParaRPr lang="en-US" sz="4000" b="1" spc="-1">
              <a:solidFill>
                <a:srgbClr val="000000"/>
              </a:solidFill>
              <a:latin typeface="Calibri (MS) Bold"/>
              <a:ea typeface="Calibri (MS) Bold"/>
              <a:cs typeface="Calibri (MS) Bold"/>
              <a:sym typeface="Calibri (MS) Bold"/>
            </a:endParaRPr>
          </a:p>
          <a:p>
            <a:pPr marL="615272" lvl="1" indent="-307636" algn="l">
              <a:lnSpc>
                <a:spcPts val="4800"/>
              </a:lnSpc>
            </a:pPr>
            <a:endParaRPr lang="en-US" sz="4000" b="1" spc="-1">
              <a:solidFill>
                <a:srgbClr val="000000"/>
              </a:solidFill>
              <a:latin typeface="Calibri (MS) Bold"/>
              <a:ea typeface="Calibri (MS) Bold"/>
              <a:cs typeface="Calibri (MS) Bold"/>
              <a:sym typeface="Calibri (MS) Bold"/>
            </a:endParaRPr>
          </a:p>
        </p:txBody>
      </p:sp>
      <p:grpSp>
        <p:nvGrpSpPr>
          <p:cNvPr id="6" name="Group 6"/>
          <p:cNvGrpSpPr/>
          <p:nvPr/>
        </p:nvGrpSpPr>
        <p:grpSpPr>
          <a:xfrm>
            <a:off x="17227439" y="9458096"/>
            <a:ext cx="913676" cy="713880"/>
            <a:chOff x="0" y="0"/>
            <a:chExt cx="1218235" cy="95184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218240" cy="951840"/>
            </a:xfrm>
            <a:custGeom>
              <a:avLst/>
              <a:gdLst/>
              <a:ahLst/>
              <a:cxnLst/>
              <a:rect l="l" t="t" r="r" b="b"/>
              <a:pathLst>
                <a:path w="1218240" h="951840">
                  <a:moveTo>
                    <a:pt x="0" y="0"/>
                  </a:moveTo>
                  <a:lnTo>
                    <a:pt x="1218240" y="0"/>
                  </a:lnTo>
                  <a:lnTo>
                    <a:pt x="1218240" y="951840"/>
                  </a:lnTo>
                  <a:lnTo>
                    <a:pt x="0" y="9518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50246" r="-50246"/>
              </a:stretch>
            </a:blipFill>
          </p:spPr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1218235" cy="999465"/>
            </a:xfrm>
            <a:prstGeom prst="rect">
              <a:avLst/>
            </a:prstGeom>
          </p:spPr>
          <p:txBody>
            <a:bodyPr lIns="0" tIns="0" rIns="0" bIns="0" rtlCol="0" anchor="b"/>
            <a:lstStyle/>
            <a:p>
              <a:pPr algn="ctr">
                <a:lnSpc>
                  <a:spcPts val="2879"/>
                </a:lnSpc>
              </a:pPr>
              <a:r>
                <a:rPr lang="en-US" sz="2400" spc="-1">
                  <a:solidFill>
                    <a:srgbClr val="B5A989"/>
                  </a:solidFill>
                  <a:latin typeface="Gill Sans Light"/>
                  <a:ea typeface="Gill Sans Light"/>
                  <a:cs typeface="Gill Sans Light"/>
                  <a:sym typeface="Gill Sans Light"/>
                </a:rPr>
                <a:t>6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5048652" y="240306"/>
            <a:ext cx="3053067" cy="774964"/>
            <a:chOff x="0" y="0"/>
            <a:chExt cx="4070756" cy="1033285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4070731" cy="1033272"/>
            </a:xfrm>
            <a:custGeom>
              <a:avLst/>
              <a:gdLst/>
              <a:ahLst/>
              <a:cxnLst/>
              <a:rect l="l" t="t" r="r" b="b"/>
              <a:pathLst>
                <a:path w="4070731" h="1033272">
                  <a:moveTo>
                    <a:pt x="0" y="0"/>
                  </a:moveTo>
                  <a:lnTo>
                    <a:pt x="4070731" y="0"/>
                  </a:lnTo>
                  <a:lnTo>
                    <a:pt x="4070731" y="1033272"/>
                  </a:lnTo>
                  <a:lnTo>
                    <a:pt x="0" y="10332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10989" b="-10989"/>
              </a:stretch>
            </a:blipFill>
          </p:spPr>
        </p:sp>
      </p:grpSp>
      <p:sp>
        <p:nvSpPr>
          <p:cNvPr id="11" name="TextBox 11"/>
          <p:cNvSpPr txBox="1"/>
          <p:nvPr/>
        </p:nvSpPr>
        <p:spPr>
          <a:xfrm>
            <a:off x="1028700" y="3060215"/>
            <a:ext cx="16462092" cy="5087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22395" lvl="1" indent="-361197" algn="l">
              <a:lnSpc>
                <a:spcPts val="4015"/>
              </a:lnSpc>
              <a:buFont typeface="Arial"/>
              <a:buChar char="•"/>
            </a:pPr>
            <a:r>
              <a:rPr lang="en-US" sz="3345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Predicts continuous ComboScore values instead of only classifying combinations as synergistic or antagonistic.</a:t>
            </a:r>
          </a:p>
          <a:p>
            <a:pPr marL="722395" lvl="1" indent="-361197" algn="l">
              <a:lnSpc>
                <a:spcPts val="4015"/>
              </a:lnSpc>
              <a:buFont typeface="Arial"/>
              <a:buChar char="•"/>
            </a:pPr>
            <a:r>
              <a:rPr lang="en-US" sz="3345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Integrates SHAP-based explainability to identify important biological and drug-related features influencing predictions.</a:t>
            </a:r>
          </a:p>
          <a:p>
            <a:pPr marL="722395" lvl="1" indent="-361197" algn="l">
              <a:lnSpc>
                <a:spcPts val="4015"/>
              </a:lnSpc>
              <a:buFont typeface="Arial"/>
              <a:buChar char="•"/>
            </a:pPr>
            <a:r>
              <a:rPr lang="en-US" sz="3345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Uses a scalable ML pipeline for handling high-dimensional omics and drug-feature data efficiently.</a:t>
            </a:r>
          </a:p>
          <a:p>
            <a:pPr marL="722395" lvl="1" indent="-361197" algn="l">
              <a:lnSpc>
                <a:spcPts val="4015"/>
              </a:lnSpc>
              <a:buFont typeface="Arial"/>
              <a:buChar char="•"/>
            </a:pPr>
            <a:r>
              <a:rPr lang="en-US" sz="3345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Supports both single and batch prediction workflows for practical research usability.</a:t>
            </a:r>
          </a:p>
          <a:p>
            <a:pPr marL="722395" lvl="1" indent="-361197" algn="l">
              <a:lnSpc>
                <a:spcPts val="4015"/>
              </a:lnSpc>
              <a:buFont typeface="Arial"/>
              <a:buChar char="•"/>
            </a:pPr>
            <a:r>
              <a:rPr lang="en-US" sz="3345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Explores both classical and quantum machine learning approaches for complex biological data analysis.</a:t>
            </a:r>
          </a:p>
          <a:p>
            <a:pPr algn="l">
              <a:lnSpc>
                <a:spcPts val="4015"/>
              </a:lnSpc>
            </a:pPr>
            <a:endParaRPr lang="en-US" sz="3345" b="1">
              <a:solidFill>
                <a:srgbClr val="000000"/>
              </a:solidFill>
              <a:latin typeface="Calibri (MS) Bold"/>
              <a:ea typeface="Calibri (MS) Bold"/>
              <a:cs typeface="Calibri (MS) Bold"/>
              <a:sym typeface="Calibri (MS) Bold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46462" y="240306"/>
            <a:ext cx="16580977" cy="1642602"/>
            <a:chOff x="0" y="0"/>
            <a:chExt cx="22107970" cy="219013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2107975" cy="2190140"/>
            </a:xfrm>
            <a:custGeom>
              <a:avLst/>
              <a:gdLst/>
              <a:ahLst/>
              <a:cxnLst/>
              <a:rect l="l" t="t" r="r" b="b"/>
              <a:pathLst>
                <a:path w="22107975" h="2190140">
                  <a:moveTo>
                    <a:pt x="0" y="0"/>
                  </a:moveTo>
                  <a:lnTo>
                    <a:pt x="22107975" y="0"/>
                  </a:lnTo>
                  <a:lnTo>
                    <a:pt x="22107975" y="2190140"/>
                  </a:lnTo>
                  <a:lnTo>
                    <a:pt x="0" y="21901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44516" b="-148860"/>
              </a:stretch>
            </a:blipFill>
          </p:spPr>
        </p:sp>
        <p:sp>
          <p:nvSpPr>
            <p:cNvPr id="4" name="TextBox 4"/>
            <p:cNvSpPr txBox="1"/>
            <p:nvPr/>
          </p:nvSpPr>
          <p:spPr>
            <a:xfrm>
              <a:off x="0" y="0"/>
              <a:ext cx="22107970" cy="219013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641"/>
                </a:lnSpc>
              </a:pPr>
              <a:endParaRPr/>
            </a:p>
            <a:p>
              <a:pPr algn="l">
                <a:lnSpc>
                  <a:spcPts val="4651"/>
                </a:lnSpc>
              </a:pPr>
              <a:r>
                <a:rPr lang="en-US" sz="4845" b="1" spc="-1">
                  <a:solidFill>
                    <a:srgbClr val="8A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Project Objectives</a:t>
              </a:r>
            </a:p>
            <a:p>
              <a:pPr algn="l">
                <a:lnSpc>
                  <a:spcPts val="4651"/>
                </a:lnSpc>
              </a:pPr>
              <a:endParaRPr lang="en-US" sz="4845" b="1" spc="-1">
                <a:solidFill>
                  <a:srgbClr val="8A0000"/>
                </a:solidFill>
                <a:latin typeface="Calibri (MS) Bold"/>
                <a:ea typeface="Calibri (MS) Bold"/>
                <a:cs typeface="Calibri (MS) Bold"/>
                <a:sym typeface="Calibri (MS) Bold"/>
              </a:endParaRP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7227439" y="9458096"/>
            <a:ext cx="913676" cy="713880"/>
            <a:chOff x="0" y="0"/>
            <a:chExt cx="1218235" cy="95184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218240" cy="951840"/>
            </a:xfrm>
            <a:custGeom>
              <a:avLst/>
              <a:gdLst/>
              <a:ahLst/>
              <a:cxnLst/>
              <a:rect l="l" t="t" r="r" b="b"/>
              <a:pathLst>
                <a:path w="1218240" h="951840">
                  <a:moveTo>
                    <a:pt x="0" y="0"/>
                  </a:moveTo>
                  <a:lnTo>
                    <a:pt x="1218240" y="0"/>
                  </a:lnTo>
                  <a:lnTo>
                    <a:pt x="1218240" y="951840"/>
                  </a:lnTo>
                  <a:lnTo>
                    <a:pt x="0" y="9518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50246" r="-50246"/>
              </a:stretch>
            </a:blipFill>
          </p:spPr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1218235" cy="999465"/>
            </a:xfrm>
            <a:prstGeom prst="rect">
              <a:avLst/>
            </a:prstGeom>
          </p:spPr>
          <p:txBody>
            <a:bodyPr lIns="0" tIns="0" rIns="0" bIns="0" rtlCol="0" anchor="b"/>
            <a:lstStyle/>
            <a:p>
              <a:pPr algn="ctr">
                <a:lnSpc>
                  <a:spcPts val="2879"/>
                </a:lnSpc>
              </a:pPr>
              <a:r>
                <a:rPr lang="en-US" sz="2400" spc="-1">
                  <a:solidFill>
                    <a:srgbClr val="B5A989"/>
                  </a:solidFill>
                  <a:latin typeface="Gill Sans Light"/>
                  <a:ea typeface="Gill Sans Light"/>
                  <a:cs typeface="Gill Sans Light"/>
                  <a:sym typeface="Gill Sans Light"/>
                </a:rPr>
                <a:t>7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5048652" y="240306"/>
            <a:ext cx="3053067" cy="774964"/>
            <a:chOff x="0" y="0"/>
            <a:chExt cx="4070756" cy="1033285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4070731" cy="1033272"/>
            </a:xfrm>
            <a:custGeom>
              <a:avLst/>
              <a:gdLst/>
              <a:ahLst/>
              <a:cxnLst/>
              <a:rect l="l" t="t" r="r" b="b"/>
              <a:pathLst>
                <a:path w="4070731" h="1033272">
                  <a:moveTo>
                    <a:pt x="0" y="0"/>
                  </a:moveTo>
                  <a:lnTo>
                    <a:pt x="4070731" y="0"/>
                  </a:lnTo>
                  <a:lnTo>
                    <a:pt x="4070731" y="1033272"/>
                  </a:lnTo>
                  <a:lnTo>
                    <a:pt x="0" y="10332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10989" b="-10989"/>
              </a:stretch>
            </a:blipFill>
          </p:spPr>
        </p:sp>
      </p:grpSp>
      <p:sp>
        <p:nvSpPr>
          <p:cNvPr id="10" name="TextBox 10"/>
          <p:cNvSpPr txBox="1"/>
          <p:nvPr/>
        </p:nvSpPr>
        <p:spPr>
          <a:xfrm>
            <a:off x="811577" y="1328261"/>
            <a:ext cx="16872700" cy="8486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69"/>
              </a:lnSpc>
            </a:pPr>
            <a:endParaRPr/>
          </a:p>
          <a:p>
            <a:pPr marL="714165" lvl="1" indent="-357083" algn="l">
              <a:lnSpc>
                <a:spcPts val="3969"/>
              </a:lnSpc>
              <a:buFont typeface="Arial"/>
              <a:buChar char="•"/>
            </a:pPr>
            <a:r>
              <a:rPr lang="en-US" sz="3307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Predict drug-combination synergy for selected drug pairs across different cancer cell lines using machine learning.</a:t>
            </a:r>
          </a:p>
          <a:p>
            <a:pPr marL="714165" lvl="1" indent="-357083" algn="l">
              <a:lnSpc>
                <a:spcPts val="3969"/>
              </a:lnSpc>
              <a:buFont typeface="Arial"/>
              <a:buChar char="•"/>
            </a:pPr>
            <a:r>
              <a:rPr lang="en-US" sz="3307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Utilize high-dimensional biological and drug-related features to improve synergy prediction accuracy.</a:t>
            </a:r>
          </a:p>
          <a:p>
            <a:pPr marL="714165" lvl="1" indent="-357083" algn="l">
              <a:lnSpc>
                <a:spcPts val="3969"/>
              </a:lnSpc>
              <a:buFont typeface="Arial"/>
              <a:buChar char="•"/>
            </a:pPr>
            <a:r>
              <a:rPr lang="en-US" sz="3307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Provide interpretable predictions using SHAP to identify key features influencing drug synergy.</a:t>
            </a:r>
          </a:p>
          <a:p>
            <a:pPr marL="714165" lvl="1" indent="-357083" algn="l">
              <a:lnSpc>
                <a:spcPts val="3969"/>
              </a:lnSpc>
              <a:buFont typeface="Arial"/>
              <a:buChar char="•"/>
            </a:pPr>
            <a:r>
              <a:rPr lang="en-US" sz="3307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Support scalable screening through both single and batch prediction workflows.</a:t>
            </a:r>
          </a:p>
          <a:p>
            <a:pPr marL="714165" lvl="1" indent="-357083" algn="l">
              <a:lnSpc>
                <a:spcPts val="3969"/>
              </a:lnSpc>
              <a:buFont typeface="Arial"/>
              <a:buChar char="•"/>
            </a:pPr>
            <a:r>
              <a:rPr lang="en-US" sz="3307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Deliver an interactive web-based system with prediction, explainability, and drug-information support.</a:t>
            </a:r>
          </a:p>
          <a:p>
            <a:pPr marL="714165" lvl="1" indent="-357083" algn="l">
              <a:lnSpc>
                <a:spcPts val="3969"/>
              </a:lnSpc>
              <a:buFont typeface="Arial"/>
              <a:buChar char="•"/>
            </a:pPr>
            <a:r>
              <a:rPr lang="en-US" sz="3307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Improve transparency through system monitoring, validation, and model-performance insights.</a:t>
            </a:r>
          </a:p>
          <a:p>
            <a:pPr marL="714165" lvl="1" indent="-357083" algn="l">
              <a:lnSpc>
                <a:spcPts val="3969"/>
              </a:lnSpc>
              <a:buFont typeface="Arial"/>
              <a:buChar char="•"/>
            </a:pPr>
            <a:r>
              <a:rPr lang="en-US" sz="3307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Explore quantum machine learning approaches for handling complex high-dimensional biological data.</a:t>
            </a:r>
          </a:p>
          <a:p>
            <a:pPr marL="714165" lvl="1" indent="-357083" algn="l">
              <a:lnSpc>
                <a:spcPts val="3969"/>
              </a:lnSpc>
              <a:buFont typeface="Arial"/>
              <a:buChar char="•"/>
            </a:pPr>
            <a:r>
              <a:rPr lang="en-US" sz="3307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Support researchers in prioritizing potentially effective drug combinations for further experimental analysis.</a:t>
            </a:r>
          </a:p>
          <a:p>
            <a:pPr algn="l">
              <a:lnSpc>
                <a:spcPts val="3969"/>
              </a:lnSpc>
            </a:pPr>
            <a:endParaRPr lang="en-US" sz="3307" b="1">
              <a:solidFill>
                <a:srgbClr val="000000"/>
              </a:solidFill>
              <a:latin typeface="Calibri (MS) Bold"/>
              <a:ea typeface="Calibri (MS) Bold"/>
              <a:cs typeface="Calibri (MS) Bold"/>
              <a:sym typeface="Calibri (MS) Bold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19329" y="115024"/>
            <a:ext cx="16580977" cy="1469155"/>
            <a:chOff x="0" y="0"/>
            <a:chExt cx="22107970" cy="195887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2107975" cy="1958878"/>
            </a:xfrm>
            <a:custGeom>
              <a:avLst/>
              <a:gdLst/>
              <a:ahLst/>
              <a:cxnLst/>
              <a:rect l="l" t="t" r="r" b="b"/>
              <a:pathLst>
                <a:path w="22107975" h="1958878">
                  <a:moveTo>
                    <a:pt x="0" y="0"/>
                  </a:moveTo>
                  <a:lnTo>
                    <a:pt x="22107975" y="0"/>
                  </a:lnTo>
                  <a:lnTo>
                    <a:pt x="22107975" y="1958878"/>
                  </a:lnTo>
                  <a:lnTo>
                    <a:pt x="0" y="195887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69908" b="-169908"/>
              </a:stretch>
            </a:blipFill>
          </p:spPr>
        </p:sp>
        <p:sp>
          <p:nvSpPr>
            <p:cNvPr id="4" name="TextBox 4"/>
            <p:cNvSpPr txBox="1"/>
            <p:nvPr/>
          </p:nvSpPr>
          <p:spPr>
            <a:xfrm>
              <a:off x="0" y="0"/>
              <a:ext cx="22107970" cy="195887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382"/>
                </a:lnSpc>
              </a:pPr>
              <a:endParaRPr/>
            </a:p>
            <a:p>
              <a:pPr algn="l">
                <a:lnSpc>
                  <a:spcPts val="4530"/>
                </a:lnSpc>
              </a:pPr>
              <a:r>
                <a:rPr lang="en-US" sz="4719" b="1" spc="-1">
                  <a:solidFill>
                    <a:srgbClr val="8A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Proposed Solution</a:t>
              </a:r>
            </a:p>
            <a:p>
              <a:pPr algn="l">
                <a:lnSpc>
                  <a:spcPts val="4530"/>
                </a:lnSpc>
              </a:pPr>
              <a:endParaRPr lang="en-US" sz="4719" b="1" spc="-1">
                <a:solidFill>
                  <a:srgbClr val="8A0000"/>
                </a:solidFill>
                <a:latin typeface="Calibri (MS) Bold"/>
                <a:ea typeface="Calibri (MS) Bold"/>
                <a:cs typeface="Calibri (MS) Bold"/>
                <a:sym typeface="Calibri (MS) Bold"/>
              </a:endParaRP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7227439" y="9458096"/>
            <a:ext cx="913676" cy="713880"/>
            <a:chOff x="0" y="0"/>
            <a:chExt cx="1218235" cy="95184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218240" cy="951840"/>
            </a:xfrm>
            <a:custGeom>
              <a:avLst/>
              <a:gdLst/>
              <a:ahLst/>
              <a:cxnLst/>
              <a:rect l="l" t="t" r="r" b="b"/>
              <a:pathLst>
                <a:path w="1218240" h="951840">
                  <a:moveTo>
                    <a:pt x="0" y="0"/>
                  </a:moveTo>
                  <a:lnTo>
                    <a:pt x="1218240" y="0"/>
                  </a:lnTo>
                  <a:lnTo>
                    <a:pt x="1218240" y="951840"/>
                  </a:lnTo>
                  <a:lnTo>
                    <a:pt x="0" y="9518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50246" r="-50246"/>
              </a:stretch>
            </a:blipFill>
          </p:spPr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1218235" cy="999465"/>
            </a:xfrm>
            <a:prstGeom prst="rect">
              <a:avLst/>
            </a:prstGeom>
          </p:spPr>
          <p:txBody>
            <a:bodyPr lIns="0" tIns="0" rIns="0" bIns="0" rtlCol="0" anchor="b"/>
            <a:lstStyle/>
            <a:p>
              <a:pPr algn="ctr">
                <a:lnSpc>
                  <a:spcPts val="2879"/>
                </a:lnSpc>
              </a:pPr>
              <a:r>
                <a:rPr lang="en-US" sz="2400" spc="-1">
                  <a:solidFill>
                    <a:srgbClr val="B5A989"/>
                  </a:solidFill>
                  <a:latin typeface="Gill Sans Light"/>
                  <a:ea typeface="Gill Sans Light"/>
                  <a:cs typeface="Gill Sans Light"/>
                  <a:sym typeface="Gill Sans Light"/>
                </a:rPr>
                <a:t>8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5048652" y="240306"/>
            <a:ext cx="3053067" cy="774964"/>
            <a:chOff x="0" y="0"/>
            <a:chExt cx="4070756" cy="1033285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4070731" cy="1033272"/>
            </a:xfrm>
            <a:custGeom>
              <a:avLst/>
              <a:gdLst/>
              <a:ahLst/>
              <a:cxnLst/>
              <a:rect l="l" t="t" r="r" b="b"/>
              <a:pathLst>
                <a:path w="4070731" h="1033272">
                  <a:moveTo>
                    <a:pt x="0" y="0"/>
                  </a:moveTo>
                  <a:lnTo>
                    <a:pt x="4070731" y="0"/>
                  </a:lnTo>
                  <a:lnTo>
                    <a:pt x="4070731" y="1033272"/>
                  </a:lnTo>
                  <a:lnTo>
                    <a:pt x="0" y="10332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10989" b="-10989"/>
              </a:stretch>
            </a:blipFill>
          </p:spPr>
        </p:sp>
      </p:grpSp>
      <p:sp>
        <p:nvSpPr>
          <p:cNvPr id="10" name="Freeform 10"/>
          <p:cNvSpPr/>
          <p:nvPr/>
        </p:nvSpPr>
        <p:spPr>
          <a:xfrm>
            <a:off x="3486816" y="1686201"/>
            <a:ext cx="11314367" cy="8485775"/>
          </a:xfrm>
          <a:custGeom>
            <a:avLst/>
            <a:gdLst/>
            <a:ahLst/>
            <a:cxnLst/>
            <a:rect l="l" t="t" r="r" b="b"/>
            <a:pathLst>
              <a:path w="11314367" h="8485775">
                <a:moveTo>
                  <a:pt x="0" y="0"/>
                </a:moveTo>
                <a:lnTo>
                  <a:pt x="11314368" y="0"/>
                </a:lnTo>
                <a:lnTo>
                  <a:pt x="11314368" y="8485775"/>
                </a:lnTo>
                <a:lnTo>
                  <a:pt x="0" y="848577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539334" y="1094851"/>
            <a:ext cx="16550097" cy="3124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15272" lvl="1" indent="-307636" algn="l">
              <a:lnSpc>
                <a:spcPts val="4800"/>
              </a:lnSpc>
              <a:buFont typeface="Arial"/>
              <a:buChar char="•"/>
            </a:pPr>
            <a:r>
              <a:rPr lang="en-US" sz="4000" b="1" spc="-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System Architecture</a:t>
            </a:r>
          </a:p>
          <a:p>
            <a:pPr marL="615272" lvl="1" indent="-307636" algn="l">
              <a:lnSpc>
                <a:spcPts val="4800"/>
              </a:lnSpc>
            </a:pPr>
            <a:endParaRPr lang="en-US" sz="4000" b="1" spc="-1">
              <a:solidFill>
                <a:srgbClr val="000000"/>
              </a:solidFill>
              <a:latin typeface="Calibri (MS) Bold"/>
              <a:ea typeface="Calibri (MS) Bold"/>
              <a:cs typeface="Calibri (MS) Bold"/>
              <a:sym typeface="Calibri (MS) Bold"/>
            </a:endParaRPr>
          </a:p>
          <a:p>
            <a:pPr marL="615272" lvl="1" indent="-307636" algn="l">
              <a:lnSpc>
                <a:spcPts val="4800"/>
              </a:lnSpc>
            </a:pPr>
            <a:endParaRPr lang="en-US" sz="4000" b="1" spc="-1">
              <a:solidFill>
                <a:srgbClr val="000000"/>
              </a:solidFill>
              <a:latin typeface="Calibri (MS) Bold"/>
              <a:ea typeface="Calibri (MS) Bold"/>
              <a:cs typeface="Calibri (MS) Bold"/>
              <a:sym typeface="Calibri (MS) Bold"/>
            </a:endParaRPr>
          </a:p>
          <a:p>
            <a:pPr marL="615272" lvl="1" indent="-307636" algn="l">
              <a:lnSpc>
                <a:spcPts val="4800"/>
              </a:lnSpc>
            </a:pPr>
            <a:endParaRPr lang="en-US" sz="4000" b="1" spc="-1">
              <a:solidFill>
                <a:srgbClr val="000000"/>
              </a:solidFill>
              <a:latin typeface="Calibri (MS) Bold"/>
              <a:ea typeface="Calibri (MS) Bold"/>
              <a:cs typeface="Calibri (MS) Bold"/>
              <a:sym typeface="Calibri (MS) Bold"/>
            </a:endParaRPr>
          </a:p>
          <a:p>
            <a:pPr marL="615272" lvl="1" indent="-307636" algn="l">
              <a:lnSpc>
                <a:spcPts val="4800"/>
              </a:lnSpc>
            </a:pPr>
            <a:endParaRPr lang="en-US" sz="4000" b="1" spc="-1">
              <a:solidFill>
                <a:srgbClr val="000000"/>
              </a:solidFill>
              <a:latin typeface="Calibri (MS) Bold"/>
              <a:ea typeface="Calibri (MS) Bold"/>
              <a:cs typeface="Calibri (MS) Bold"/>
              <a:sym typeface="Calibri (MS) Bold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19329" y="115024"/>
            <a:ext cx="16580977" cy="1469155"/>
            <a:chOff x="0" y="0"/>
            <a:chExt cx="22107970" cy="195887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2107975" cy="1958878"/>
            </a:xfrm>
            <a:custGeom>
              <a:avLst/>
              <a:gdLst/>
              <a:ahLst/>
              <a:cxnLst/>
              <a:rect l="l" t="t" r="r" b="b"/>
              <a:pathLst>
                <a:path w="22107975" h="1958878">
                  <a:moveTo>
                    <a:pt x="0" y="0"/>
                  </a:moveTo>
                  <a:lnTo>
                    <a:pt x="22107975" y="0"/>
                  </a:lnTo>
                  <a:lnTo>
                    <a:pt x="22107975" y="1958878"/>
                  </a:lnTo>
                  <a:lnTo>
                    <a:pt x="0" y="195887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69908" b="-169908"/>
              </a:stretch>
            </a:blipFill>
          </p:spPr>
        </p:sp>
        <p:sp>
          <p:nvSpPr>
            <p:cNvPr id="4" name="TextBox 4"/>
            <p:cNvSpPr txBox="1"/>
            <p:nvPr/>
          </p:nvSpPr>
          <p:spPr>
            <a:xfrm>
              <a:off x="0" y="0"/>
              <a:ext cx="22107970" cy="195887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382"/>
                </a:lnSpc>
              </a:pPr>
              <a:endParaRPr/>
            </a:p>
            <a:p>
              <a:pPr algn="l">
                <a:lnSpc>
                  <a:spcPts val="4530"/>
                </a:lnSpc>
              </a:pPr>
              <a:r>
                <a:rPr lang="en-US" sz="4719" b="1" spc="-1">
                  <a:solidFill>
                    <a:srgbClr val="8A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Proposed Solution</a:t>
              </a:r>
            </a:p>
            <a:p>
              <a:pPr algn="l">
                <a:lnSpc>
                  <a:spcPts val="4530"/>
                </a:lnSpc>
              </a:pPr>
              <a:endParaRPr lang="en-US" sz="4719" b="1" spc="-1">
                <a:solidFill>
                  <a:srgbClr val="8A0000"/>
                </a:solidFill>
                <a:latin typeface="Calibri (MS) Bold"/>
                <a:ea typeface="Calibri (MS) Bold"/>
                <a:cs typeface="Calibri (MS) Bold"/>
                <a:sym typeface="Calibri (MS) Bold"/>
              </a:endParaRP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7227439" y="9458096"/>
            <a:ext cx="913676" cy="713880"/>
            <a:chOff x="0" y="0"/>
            <a:chExt cx="1218235" cy="95184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218240" cy="951840"/>
            </a:xfrm>
            <a:custGeom>
              <a:avLst/>
              <a:gdLst/>
              <a:ahLst/>
              <a:cxnLst/>
              <a:rect l="l" t="t" r="r" b="b"/>
              <a:pathLst>
                <a:path w="1218240" h="951840">
                  <a:moveTo>
                    <a:pt x="0" y="0"/>
                  </a:moveTo>
                  <a:lnTo>
                    <a:pt x="1218240" y="0"/>
                  </a:lnTo>
                  <a:lnTo>
                    <a:pt x="1218240" y="951840"/>
                  </a:lnTo>
                  <a:lnTo>
                    <a:pt x="0" y="9518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50246" r="-50246"/>
              </a:stretch>
            </a:blipFill>
          </p:spPr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1218235" cy="999465"/>
            </a:xfrm>
            <a:prstGeom prst="rect">
              <a:avLst/>
            </a:prstGeom>
          </p:spPr>
          <p:txBody>
            <a:bodyPr lIns="0" tIns="0" rIns="0" bIns="0" rtlCol="0" anchor="b"/>
            <a:lstStyle/>
            <a:p>
              <a:pPr algn="ctr">
                <a:lnSpc>
                  <a:spcPts val="2879"/>
                </a:lnSpc>
              </a:pPr>
              <a:r>
                <a:rPr lang="en-US" sz="2400" spc="-1">
                  <a:solidFill>
                    <a:srgbClr val="B5A989"/>
                  </a:solidFill>
                  <a:latin typeface="Gill Sans Light"/>
                  <a:ea typeface="Gill Sans Light"/>
                  <a:cs typeface="Gill Sans Light"/>
                  <a:sym typeface="Gill Sans Light"/>
                </a:rPr>
                <a:t>9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5048652" y="240306"/>
            <a:ext cx="3053067" cy="774964"/>
            <a:chOff x="0" y="0"/>
            <a:chExt cx="4070756" cy="1033285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4070731" cy="1033272"/>
            </a:xfrm>
            <a:custGeom>
              <a:avLst/>
              <a:gdLst/>
              <a:ahLst/>
              <a:cxnLst/>
              <a:rect l="l" t="t" r="r" b="b"/>
              <a:pathLst>
                <a:path w="4070731" h="1033272">
                  <a:moveTo>
                    <a:pt x="0" y="0"/>
                  </a:moveTo>
                  <a:lnTo>
                    <a:pt x="4070731" y="0"/>
                  </a:lnTo>
                  <a:lnTo>
                    <a:pt x="4070731" y="1033272"/>
                  </a:lnTo>
                  <a:lnTo>
                    <a:pt x="0" y="10332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10989" b="-10989"/>
              </a:stretch>
            </a:blipFill>
          </p:spPr>
        </p:sp>
      </p:grpSp>
      <p:sp>
        <p:nvSpPr>
          <p:cNvPr id="10" name="Freeform 10"/>
          <p:cNvSpPr/>
          <p:nvPr/>
        </p:nvSpPr>
        <p:spPr>
          <a:xfrm>
            <a:off x="3133155" y="1270732"/>
            <a:ext cx="12021691" cy="9016268"/>
          </a:xfrm>
          <a:custGeom>
            <a:avLst/>
            <a:gdLst/>
            <a:ahLst/>
            <a:cxnLst/>
            <a:rect l="l" t="t" r="r" b="b"/>
            <a:pathLst>
              <a:path w="12021691" h="9016268">
                <a:moveTo>
                  <a:pt x="0" y="0"/>
                </a:moveTo>
                <a:lnTo>
                  <a:pt x="12021690" y="0"/>
                </a:lnTo>
                <a:lnTo>
                  <a:pt x="12021690" y="9016268"/>
                </a:lnTo>
                <a:lnTo>
                  <a:pt x="0" y="901626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539334" y="1094851"/>
            <a:ext cx="16550097" cy="3124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15272" lvl="1" indent="-307636" algn="l">
              <a:lnSpc>
                <a:spcPts val="4800"/>
              </a:lnSpc>
              <a:buFont typeface="Arial"/>
              <a:buChar char="•"/>
            </a:pPr>
            <a:r>
              <a:rPr lang="en-US" sz="4000" b="1" spc="-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UML diagrams</a:t>
            </a:r>
          </a:p>
          <a:p>
            <a:pPr marL="615272" lvl="1" indent="-307636" algn="l">
              <a:lnSpc>
                <a:spcPts val="4800"/>
              </a:lnSpc>
            </a:pPr>
            <a:endParaRPr lang="en-US" sz="4000" b="1" spc="-1">
              <a:solidFill>
                <a:srgbClr val="000000"/>
              </a:solidFill>
              <a:latin typeface="Calibri (MS) Bold"/>
              <a:ea typeface="Calibri (MS) Bold"/>
              <a:cs typeface="Calibri (MS) Bold"/>
              <a:sym typeface="Calibri (MS) Bold"/>
            </a:endParaRPr>
          </a:p>
          <a:p>
            <a:pPr marL="615272" lvl="1" indent="-307636" algn="l">
              <a:lnSpc>
                <a:spcPts val="4800"/>
              </a:lnSpc>
            </a:pPr>
            <a:endParaRPr lang="en-US" sz="4000" b="1" spc="-1">
              <a:solidFill>
                <a:srgbClr val="000000"/>
              </a:solidFill>
              <a:latin typeface="Calibri (MS) Bold"/>
              <a:ea typeface="Calibri (MS) Bold"/>
              <a:cs typeface="Calibri (MS) Bold"/>
              <a:sym typeface="Calibri (MS) Bold"/>
            </a:endParaRPr>
          </a:p>
          <a:p>
            <a:pPr marL="615272" lvl="1" indent="-307636" algn="l">
              <a:lnSpc>
                <a:spcPts val="4800"/>
              </a:lnSpc>
            </a:pPr>
            <a:endParaRPr lang="en-US" sz="4000" b="1" spc="-1">
              <a:solidFill>
                <a:srgbClr val="000000"/>
              </a:solidFill>
              <a:latin typeface="Calibri (MS) Bold"/>
              <a:ea typeface="Calibri (MS) Bold"/>
              <a:cs typeface="Calibri (MS) Bold"/>
              <a:sym typeface="Calibri (MS) Bold"/>
            </a:endParaRPr>
          </a:p>
          <a:p>
            <a:pPr marL="615272" lvl="1" indent="-307636" algn="l">
              <a:lnSpc>
                <a:spcPts val="4800"/>
              </a:lnSpc>
            </a:pPr>
            <a:endParaRPr lang="en-US" sz="4000" b="1" spc="-1">
              <a:solidFill>
                <a:srgbClr val="000000"/>
              </a:solidFill>
              <a:latin typeface="Calibri (MS) Bold"/>
              <a:ea typeface="Calibri (MS) Bold"/>
              <a:cs typeface="Calibri (MS) Bold"/>
              <a:sym typeface="Calibri (MS) Bold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19329" y="115024"/>
            <a:ext cx="16580977" cy="1469155"/>
            <a:chOff x="0" y="0"/>
            <a:chExt cx="22107970" cy="195887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2107975" cy="1958878"/>
            </a:xfrm>
            <a:custGeom>
              <a:avLst/>
              <a:gdLst/>
              <a:ahLst/>
              <a:cxnLst/>
              <a:rect l="l" t="t" r="r" b="b"/>
              <a:pathLst>
                <a:path w="22107975" h="1958878">
                  <a:moveTo>
                    <a:pt x="0" y="0"/>
                  </a:moveTo>
                  <a:lnTo>
                    <a:pt x="22107975" y="0"/>
                  </a:lnTo>
                  <a:lnTo>
                    <a:pt x="22107975" y="1958878"/>
                  </a:lnTo>
                  <a:lnTo>
                    <a:pt x="0" y="195887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69908" b="-169908"/>
              </a:stretch>
            </a:blipFill>
          </p:spPr>
        </p:sp>
        <p:sp>
          <p:nvSpPr>
            <p:cNvPr id="4" name="TextBox 4"/>
            <p:cNvSpPr txBox="1"/>
            <p:nvPr/>
          </p:nvSpPr>
          <p:spPr>
            <a:xfrm>
              <a:off x="0" y="0"/>
              <a:ext cx="22107970" cy="195887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382"/>
                </a:lnSpc>
              </a:pPr>
              <a:endParaRPr/>
            </a:p>
            <a:p>
              <a:pPr algn="l">
                <a:lnSpc>
                  <a:spcPts val="4530"/>
                </a:lnSpc>
              </a:pPr>
              <a:r>
                <a:rPr lang="en-US" sz="4719" b="1" spc="-1">
                  <a:solidFill>
                    <a:srgbClr val="8A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Proposed Solution</a:t>
              </a:r>
            </a:p>
            <a:p>
              <a:pPr algn="l">
                <a:lnSpc>
                  <a:spcPts val="4530"/>
                </a:lnSpc>
              </a:pPr>
              <a:endParaRPr lang="en-US" sz="4719" b="1" spc="-1">
                <a:solidFill>
                  <a:srgbClr val="8A0000"/>
                </a:solidFill>
                <a:latin typeface="Calibri (MS) Bold"/>
                <a:ea typeface="Calibri (MS) Bold"/>
                <a:cs typeface="Calibri (MS) Bold"/>
                <a:sym typeface="Calibri (MS) Bold"/>
              </a:endParaRPr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557336" y="1094851"/>
            <a:ext cx="16550097" cy="3124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15272" lvl="1" indent="-307636" algn="l">
              <a:lnSpc>
                <a:spcPts val="4800"/>
              </a:lnSpc>
              <a:buFont typeface="Arial"/>
              <a:buChar char="•"/>
            </a:pPr>
            <a:r>
              <a:rPr lang="en-US" sz="4000" b="1" spc="-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Features</a:t>
            </a:r>
          </a:p>
          <a:p>
            <a:pPr marL="615272" lvl="1" indent="-307636" algn="l">
              <a:lnSpc>
                <a:spcPts val="4800"/>
              </a:lnSpc>
            </a:pPr>
            <a:endParaRPr lang="en-US" sz="4000" b="1" spc="-1">
              <a:solidFill>
                <a:srgbClr val="000000"/>
              </a:solidFill>
              <a:latin typeface="Calibri (MS) Bold"/>
              <a:ea typeface="Calibri (MS) Bold"/>
              <a:cs typeface="Calibri (MS) Bold"/>
              <a:sym typeface="Calibri (MS) Bold"/>
            </a:endParaRPr>
          </a:p>
          <a:p>
            <a:pPr marL="615272" lvl="1" indent="-307636" algn="l">
              <a:lnSpc>
                <a:spcPts val="4800"/>
              </a:lnSpc>
            </a:pPr>
            <a:endParaRPr lang="en-US" sz="4000" b="1" spc="-1">
              <a:solidFill>
                <a:srgbClr val="000000"/>
              </a:solidFill>
              <a:latin typeface="Calibri (MS) Bold"/>
              <a:ea typeface="Calibri (MS) Bold"/>
              <a:cs typeface="Calibri (MS) Bold"/>
              <a:sym typeface="Calibri (MS) Bold"/>
            </a:endParaRPr>
          </a:p>
          <a:p>
            <a:pPr marL="615272" lvl="1" indent="-307636" algn="l">
              <a:lnSpc>
                <a:spcPts val="4800"/>
              </a:lnSpc>
            </a:pPr>
            <a:endParaRPr lang="en-US" sz="4000" b="1" spc="-1">
              <a:solidFill>
                <a:srgbClr val="000000"/>
              </a:solidFill>
              <a:latin typeface="Calibri (MS) Bold"/>
              <a:ea typeface="Calibri (MS) Bold"/>
              <a:cs typeface="Calibri (MS) Bold"/>
              <a:sym typeface="Calibri (MS) Bold"/>
            </a:endParaRPr>
          </a:p>
          <a:p>
            <a:pPr marL="615272" lvl="1" indent="-307636" algn="l">
              <a:lnSpc>
                <a:spcPts val="4800"/>
              </a:lnSpc>
            </a:pPr>
            <a:endParaRPr lang="en-US" sz="4000" b="1" spc="-1">
              <a:solidFill>
                <a:srgbClr val="000000"/>
              </a:solidFill>
              <a:latin typeface="Calibri (MS) Bold"/>
              <a:ea typeface="Calibri (MS) Bold"/>
              <a:cs typeface="Calibri (MS) Bold"/>
              <a:sym typeface="Calibri (MS) Bold"/>
            </a:endParaRPr>
          </a:p>
        </p:txBody>
      </p:sp>
      <p:grpSp>
        <p:nvGrpSpPr>
          <p:cNvPr id="6" name="Group 6"/>
          <p:cNvGrpSpPr/>
          <p:nvPr/>
        </p:nvGrpSpPr>
        <p:grpSpPr>
          <a:xfrm>
            <a:off x="17227439" y="9458096"/>
            <a:ext cx="913676" cy="713880"/>
            <a:chOff x="0" y="0"/>
            <a:chExt cx="1218235" cy="95184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218240" cy="951840"/>
            </a:xfrm>
            <a:custGeom>
              <a:avLst/>
              <a:gdLst/>
              <a:ahLst/>
              <a:cxnLst/>
              <a:rect l="l" t="t" r="r" b="b"/>
              <a:pathLst>
                <a:path w="1218240" h="951840">
                  <a:moveTo>
                    <a:pt x="0" y="0"/>
                  </a:moveTo>
                  <a:lnTo>
                    <a:pt x="1218240" y="0"/>
                  </a:lnTo>
                  <a:lnTo>
                    <a:pt x="1218240" y="951840"/>
                  </a:lnTo>
                  <a:lnTo>
                    <a:pt x="0" y="9518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50246" r="-50246"/>
              </a:stretch>
            </a:blipFill>
          </p:spPr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1218235" cy="999465"/>
            </a:xfrm>
            <a:prstGeom prst="rect">
              <a:avLst/>
            </a:prstGeom>
          </p:spPr>
          <p:txBody>
            <a:bodyPr lIns="0" tIns="0" rIns="0" bIns="0" rtlCol="0" anchor="b"/>
            <a:lstStyle/>
            <a:p>
              <a:pPr algn="ctr">
                <a:lnSpc>
                  <a:spcPts val="2879"/>
                </a:lnSpc>
              </a:pPr>
              <a:r>
                <a:rPr lang="en-US" sz="2400" spc="-1">
                  <a:solidFill>
                    <a:srgbClr val="B5A989"/>
                  </a:solidFill>
                  <a:latin typeface="Gill Sans Light"/>
                  <a:ea typeface="Gill Sans Light"/>
                  <a:cs typeface="Gill Sans Light"/>
                  <a:sym typeface="Gill Sans Light"/>
                </a:rPr>
                <a:t>10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5048652" y="240306"/>
            <a:ext cx="3053067" cy="774964"/>
            <a:chOff x="0" y="0"/>
            <a:chExt cx="4070756" cy="1033285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4070731" cy="1033272"/>
            </a:xfrm>
            <a:custGeom>
              <a:avLst/>
              <a:gdLst/>
              <a:ahLst/>
              <a:cxnLst/>
              <a:rect l="l" t="t" r="r" b="b"/>
              <a:pathLst>
                <a:path w="4070731" h="1033272">
                  <a:moveTo>
                    <a:pt x="0" y="0"/>
                  </a:moveTo>
                  <a:lnTo>
                    <a:pt x="4070731" y="0"/>
                  </a:lnTo>
                  <a:lnTo>
                    <a:pt x="4070731" y="1033272"/>
                  </a:lnTo>
                  <a:lnTo>
                    <a:pt x="0" y="10332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10989" b="-10989"/>
              </a:stretch>
            </a:blipFill>
          </p:spPr>
        </p:sp>
      </p:grpSp>
      <p:sp>
        <p:nvSpPr>
          <p:cNvPr id="11" name="TextBox 11"/>
          <p:cNvSpPr txBox="1"/>
          <p:nvPr/>
        </p:nvSpPr>
        <p:spPr>
          <a:xfrm>
            <a:off x="1143919" y="2599204"/>
            <a:ext cx="7840866" cy="2343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2500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1.Prediction Model</a:t>
            </a:r>
          </a:p>
          <a:p>
            <a:pPr marL="539866" lvl="1" indent="-269933" algn="l">
              <a:lnSpc>
                <a:spcPts val="3000"/>
              </a:lnSpc>
              <a:buFont typeface="Arial"/>
              <a:buChar char="•"/>
            </a:pPr>
            <a:r>
              <a:rPr lang="en-US" sz="2500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XGBoost regression model</a:t>
            </a:r>
          </a:p>
          <a:p>
            <a:pPr marL="539866" lvl="1" indent="-269933" algn="l">
              <a:lnSpc>
                <a:spcPts val="3000"/>
              </a:lnSpc>
              <a:buFont typeface="Arial"/>
              <a:buChar char="•"/>
            </a:pPr>
            <a:r>
              <a:rPr lang="en-US" sz="2500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Handles high-dimensional tabular data</a:t>
            </a:r>
          </a:p>
          <a:p>
            <a:pPr marL="539866" lvl="1" indent="-269933" algn="l">
              <a:lnSpc>
                <a:spcPts val="3000"/>
              </a:lnSpc>
              <a:buFont typeface="Arial"/>
              <a:buChar char="•"/>
            </a:pPr>
            <a:r>
              <a:rPr lang="en-US" sz="2500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Predicts synergy score</a:t>
            </a:r>
          </a:p>
          <a:p>
            <a:pPr marL="539866" lvl="1" indent="-269933" algn="l">
              <a:lnSpc>
                <a:spcPts val="3000"/>
              </a:lnSpc>
              <a:buFont typeface="Arial"/>
              <a:buChar char="•"/>
            </a:pPr>
            <a:r>
              <a:rPr lang="en-US" sz="2500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Uses Quantum Kernel Ridge Regression (QKRR) </a:t>
            </a:r>
          </a:p>
          <a:p>
            <a:pPr marL="384580" lvl="1" indent="-192290" algn="l">
              <a:lnSpc>
                <a:spcPts val="3000"/>
              </a:lnSpc>
            </a:pPr>
            <a:endParaRPr lang="en-US" sz="2500" b="1">
              <a:solidFill>
                <a:srgbClr val="000000"/>
              </a:solidFill>
              <a:latin typeface="Calibri (MS) Bold"/>
              <a:ea typeface="Calibri (MS) Bold"/>
              <a:cs typeface="Calibri (MS) Bold"/>
              <a:sym typeface="Calibri (MS) Bold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1143919" y="5313829"/>
            <a:ext cx="7840866" cy="1962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2500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2. Shapley Additive Explanation (SHAP)</a:t>
            </a:r>
          </a:p>
          <a:p>
            <a:pPr marL="539866" lvl="1" indent="-269933" algn="l">
              <a:lnSpc>
                <a:spcPts val="3000"/>
              </a:lnSpc>
              <a:buFont typeface="Arial"/>
              <a:buChar char="•"/>
            </a:pPr>
            <a:r>
              <a:rPr lang="en-US" sz="2500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SHAP TreeExplainer</a:t>
            </a:r>
          </a:p>
          <a:p>
            <a:pPr marL="539866" lvl="1" indent="-269933" algn="l">
              <a:lnSpc>
                <a:spcPts val="3000"/>
              </a:lnSpc>
              <a:buFont typeface="Arial"/>
              <a:buChar char="•"/>
            </a:pPr>
            <a:r>
              <a:rPr lang="en-US" sz="2500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Identifies top contributing features</a:t>
            </a:r>
          </a:p>
          <a:p>
            <a:pPr marL="539866" lvl="1" indent="-269933" algn="l">
              <a:lnSpc>
                <a:spcPts val="3000"/>
              </a:lnSpc>
              <a:buFont typeface="Arial"/>
              <a:buChar char="•"/>
            </a:pPr>
            <a:r>
              <a:rPr lang="en-US" sz="2500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Provides human-readable explanations</a:t>
            </a:r>
          </a:p>
          <a:p>
            <a:pPr marL="384580" lvl="1" indent="-192290" algn="l">
              <a:lnSpc>
                <a:spcPts val="3000"/>
              </a:lnSpc>
            </a:pPr>
            <a:endParaRPr lang="en-US" sz="2500" b="1">
              <a:solidFill>
                <a:srgbClr val="000000"/>
              </a:solidFill>
              <a:latin typeface="Calibri (MS) Bold"/>
              <a:ea typeface="Calibri (MS) Bold"/>
              <a:cs typeface="Calibri (MS) Bold"/>
              <a:sym typeface="Calibri (MS) Bold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1143919" y="7391400"/>
            <a:ext cx="7840866" cy="1962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2500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3. Batch Prediction</a:t>
            </a:r>
          </a:p>
          <a:p>
            <a:pPr marL="539866" lvl="1" indent="-269933" algn="l">
              <a:lnSpc>
                <a:spcPts val="3000"/>
              </a:lnSpc>
              <a:buFont typeface="Arial"/>
              <a:buChar char="•"/>
            </a:pPr>
            <a:r>
              <a:rPr lang="en-US" sz="2500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Upload a CSV file with multiple drug pairs</a:t>
            </a:r>
          </a:p>
          <a:p>
            <a:pPr marL="539866" lvl="1" indent="-269933" algn="l">
              <a:lnSpc>
                <a:spcPts val="3000"/>
              </a:lnSpc>
              <a:buFont typeface="Arial"/>
              <a:buChar char="•"/>
            </a:pPr>
            <a:r>
              <a:rPr lang="en-US" sz="2500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System predicts synergy scores for all at once</a:t>
            </a:r>
          </a:p>
          <a:p>
            <a:pPr marL="539866" lvl="1" indent="-269933" algn="l">
              <a:lnSpc>
                <a:spcPts val="3000"/>
              </a:lnSpc>
              <a:buFont typeface="Arial"/>
              <a:buChar char="•"/>
            </a:pPr>
            <a:r>
              <a:rPr lang="en-US" sz="2500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Returns a downloadable results file</a:t>
            </a:r>
          </a:p>
          <a:p>
            <a:pPr marL="384580" lvl="1" indent="-192290" algn="l">
              <a:lnSpc>
                <a:spcPts val="3000"/>
              </a:lnSpc>
            </a:pPr>
            <a:endParaRPr lang="en-US" sz="2500" b="1">
              <a:solidFill>
                <a:srgbClr val="000000"/>
              </a:solidFill>
              <a:latin typeface="Calibri (MS) Bold"/>
              <a:ea typeface="Calibri (MS) Bold"/>
              <a:cs typeface="Calibri (MS) Bold"/>
              <a:sym typeface="Calibri (MS) Bold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10300249" y="2599204"/>
            <a:ext cx="7840866" cy="1962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2500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4. Interactive Web Interface</a:t>
            </a:r>
          </a:p>
          <a:p>
            <a:pPr marL="539866" lvl="1" indent="-269933" algn="l">
              <a:lnSpc>
                <a:spcPts val="3000"/>
              </a:lnSpc>
              <a:buFont typeface="Arial"/>
              <a:buChar char="•"/>
            </a:pPr>
            <a:r>
              <a:rPr lang="en-US" sz="2500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User-friendly interface (Flask-based)</a:t>
            </a:r>
          </a:p>
          <a:p>
            <a:pPr marL="539866" lvl="1" indent="-269933" algn="l">
              <a:lnSpc>
                <a:spcPts val="3000"/>
              </a:lnSpc>
              <a:buFont typeface="Arial"/>
              <a:buChar char="•"/>
            </a:pPr>
            <a:r>
              <a:rPr lang="en-US" sz="2500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Drug input, prediction, and visualisation</a:t>
            </a:r>
          </a:p>
          <a:p>
            <a:pPr marL="539866" lvl="1" indent="-269933" algn="l">
              <a:lnSpc>
                <a:spcPts val="3000"/>
              </a:lnSpc>
              <a:buFont typeface="Arial"/>
              <a:buChar char="•"/>
            </a:pPr>
            <a:r>
              <a:rPr lang="en-US" sz="2500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Batch processing + drug information</a:t>
            </a:r>
          </a:p>
          <a:p>
            <a:pPr marL="384580" lvl="1" indent="-192290" algn="l">
              <a:lnSpc>
                <a:spcPts val="3000"/>
              </a:lnSpc>
            </a:pPr>
            <a:endParaRPr lang="en-US" sz="2500" b="1">
              <a:solidFill>
                <a:srgbClr val="000000"/>
              </a:solidFill>
              <a:latin typeface="Calibri (MS) Bold"/>
              <a:ea typeface="Calibri (MS) Bold"/>
              <a:cs typeface="Calibri (MS) Bold"/>
              <a:sym typeface="Calibri (MS) Bold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10447134" y="4923304"/>
            <a:ext cx="7840866" cy="1962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2500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5. Conversational AI Assistant</a:t>
            </a:r>
          </a:p>
          <a:p>
            <a:pPr marL="539866" lvl="1" indent="-269933" algn="l">
              <a:lnSpc>
                <a:spcPts val="3000"/>
              </a:lnSpc>
              <a:buFont typeface="Arial"/>
              <a:buChar char="•"/>
            </a:pPr>
            <a:r>
              <a:rPr lang="en-US" sz="2500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Chatbot for natural-language queries</a:t>
            </a:r>
          </a:p>
          <a:p>
            <a:pPr marL="539866" lvl="1" indent="-269933" algn="l">
              <a:lnSpc>
                <a:spcPts val="3000"/>
              </a:lnSpc>
              <a:buFont typeface="Arial"/>
              <a:buChar char="•"/>
            </a:pPr>
            <a:r>
              <a:rPr lang="en-US" sz="2500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Uses SHAP-based context for grounded explanations</a:t>
            </a:r>
          </a:p>
          <a:p>
            <a:pPr marL="539866" lvl="1" indent="-269933" algn="l">
              <a:lnSpc>
                <a:spcPts val="3000"/>
              </a:lnSpc>
              <a:buFont typeface="Arial"/>
              <a:buChar char="•"/>
            </a:pPr>
            <a:r>
              <a:rPr lang="en-US" sz="2500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Supports in constructing answers </a:t>
            </a:r>
          </a:p>
          <a:p>
            <a:pPr marL="384580" lvl="1" indent="-192290" algn="l">
              <a:lnSpc>
                <a:spcPts val="3000"/>
              </a:lnSpc>
            </a:pPr>
            <a:endParaRPr lang="en-US" sz="2500" b="1">
              <a:solidFill>
                <a:srgbClr val="000000"/>
              </a:solidFill>
              <a:latin typeface="Calibri (MS) Bold"/>
              <a:ea typeface="Calibri (MS) Bold"/>
              <a:cs typeface="Calibri (MS) Bold"/>
              <a:sym typeface="Calibri (MS) Bold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1143919" y="4761379"/>
            <a:ext cx="7840866" cy="400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80"/>
              </a:lnSpc>
            </a:pP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19329" y="115024"/>
            <a:ext cx="16580977" cy="1469155"/>
            <a:chOff x="0" y="0"/>
            <a:chExt cx="22107970" cy="195887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2107975" cy="1958878"/>
            </a:xfrm>
            <a:custGeom>
              <a:avLst/>
              <a:gdLst/>
              <a:ahLst/>
              <a:cxnLst/>
              <a:rect l="l" t="t" r="r" b="b"/>
              <a:pathLst>
                <a:path w="22107975" h="1958878">
                  <a:moveTo>
                    <a:pt x="0" y="0"/>
                  </a:moveTo>
                  <a:lnTo>
                    <a:pt x="22107975" y="0"/>
                  </a:lnTo>
                  <a:lnTo>
                    <a:pt x="22107975" y="1958878"/>
                  </a:lnTo>
                  <a:lnTo>
                    <a:pt x="0" y="195887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69908" b="-169908"/>
              </a:stretch>
            </a:blipFill>
          </p:spPr>
        </p:sp>
        <p:sp>
          <p:nvSpPr>
            <p:cNvPr id="4" name="TextBox 4"/>
            <p:cNvSpPr txBox="1"/>
            <p:nvPr/>
          </p:nvSpPr>
          <p:spPr>
            <a:xfrm>
              <a:off x="0" y="0"/>
              <a:ext cx="22107970" cy="195887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382"/>
                </a:lnSpc>
              </a:pPr>
              <a:endParaRPr/>
            </a:p>
            <a:p>
              <a:pPr algn="l">
                <a:lnSpc>
                  <a:spcPts val="4530"/>
                </a:lnSpc>
              </a:pPr>
              <a:r>
                <a:rPr lang="en-US" sz="4719" b="1" spc="-1">
                  <a:solidFill>
                    <a:srgbClr val="8A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Proposed Solution</a:t>
              </a:r>
            </a:p>
            <a:p>
              <a:pPr algn="l">
                <a:lnSpc>
                  <a:spcPts val="4530"/>
                </a:lnSpc>
              </a:pPr>
              <a:endParaRPr lang="en-US" sz="4719" b="1" spc="-1">
                <a:solidFill>
                  <a:srgbClr val="8A0000"/>
                </a:solidFill>
                <a:latin typeface="Calibri (MS) Bold"/>
                <a:ea typeface="Calibri (MS) Bold"/>
                <a:cs typeface="Calibri (MS) Bold"/>
                <a:sym typeface="Calibri (MS) Bold"/>
              </a:endParaRPr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677342" y="1362978"/>
            <a:ext cx="16550097" cy="685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15265" lvl="1" indent="-307632" algn="l">
              <a:lnSpc>
                <a:spcPts val="4800"/>
              </a:lnSpc>
              <a:buFont typeface="Arial"/>
              <a:buChar char="•"/>
            </a:pPr>
            <a:r>
              <a:rPr lang="en-US" sz="4000" b="1" spc="-1" dirty="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Algorithms Used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17227439" y="9458096"/>
            <a:ext cx="913676" cy="713880"/>
            <a:chOff x="0" y="0"/>
            <a:chExt cx="1218235" cy="95184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218240" cy="951840"/>
            </a:xfrm>
            <a:custGeom>
              <a:avLst/>
              <a:gdLst/>
              <a:ahLst/>
              <a:cxnLst/>
              <a:rect l="l" t="t" r="r" b="b"/>
              <a:pathLst>
                <a:path w="1218240" h="951840">
                  <a:moveTo>
                    <a:pt x="0" y="0"/>
                  </a:moveTo>
                  <a:lnTo>
                    <a:pt x="1218240" y="0"/>
                  </a:lnTo>
                  <a:lnTo>
                    <a:pt x="1218240" y="951840"/>
                  </a:lnTo>
                  <a:lnTo>
                    <a:pt x="0" y="9518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50246" r="-50246"/>
              </a:stretch>
            </a:blipFill>
          </p:spPr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1218235" cy="999465"/>
            </a:xfrm>
            <a:prstGeom prst="rect">
              <a:avLst/>
            </a:prstGeom>
          </p:spPr>
          <p:txBody>
            <a:bodyPr lIns="0" tIns="0" rIns="0" bIns="0" rtlCol="0" anchor="b"/>
            <a:lstStyle/>
            <a:p>
              <a:pPr algn="ctr">
                <a:lnSpc>
                  <a:spcPts val="2879"/>
                </a:lnSpc>
              </a:pPr>
              <a:r>
                <a:rPr lang="en-US" sz="2400" spc="-1">
                  <a:solidFill>
                    <a:srgbClr val="B5A989"/>
                  </a:solidFill>
                  <a:latin typeface="Gill Sans Light"/>
                  <a:ea typeface="Gill Sans Light"/>
                  <a:cs typeface="Gill Sans Light"/>
                  <a:sym typeface="Gill Sans Light"/>
                </a:rPr>
                <a:t>11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5048652" y="240306"/>
            <a:ext cx="3053067" cy="774964"/>
            <a:chOff x="0" y="0"/>
            <a:chExt cx="4070756" cy="1033285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4070731" cy="1033272"/>
            </a:xfrm>
            <a:custGeom>
              <a:avLst/>
              <a:gdLst/>
              <a:ahLst/>
              <a:cxnLst/>
              <a:rect l="l" t="t" r="r" b="b"/>
              <a:pathLst>
                <a:path w="4070731" h="1033272">
                  <a:moveTo>
                    <a:pt x="0" y="0"/>
                  </a:moveTo>
                  <a:lnTo>
                    <a:pt x="4070731" y="0"/>
                  </a:lnTo>
                  <a:lnTo>
                    <a:pt x="4070731" y="1033272"/>
                  </a:lnTo>
                  <a:lnTo>
                    <a:pt x="0" y="10332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10989" b="-10989"/>
              </a:stretch>
            </a:blipFill>
          </p:spPr>
        </p:sp>
      </p:grpSp>
      <p:sp>
        <p:nvSpPr>
          <p:cNvPr id="11" name="TextBox 11"/>
          <p:cNvSpPr txBox="1"/>
          <p:nvPr/>
        </p:nvSpPr>
        <p:spPr>
          <a:xfrm>
            <a:off x="1005554" y="2082522"/>
            <a:ext cx="16924040" cy="26930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34333" lvl="1" indent="-317167" algn="l">
              <a:lnSpc>
                <a:spcPts val="3525"/>
              </a:lnSpc>
              <a:buFont typeface="Arial"/>
              <a:buChar char="•"/>
            </a:pPr>
            <a:r>
              <a:rPr lang="en-US" sz="2938" b="1" spc="-1" dirty="0" err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XGBoost</a:t>
            </a:r>
            <a:r>
              <a:rPr lang="en-US" sz="2938" b="1" spc="-1" dirty="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Regressor → Final model used for continuous </a:t>
            </a:r>
            <a:r>
              <a:rPr lang="en-US" sz="2938" b="1" spc="-1" dirty="0" err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ComboScore</a:t>
            </a:r>
            <a:r>
              <a:rPr lang="en-US" sz="2938" b="1" spc="-1" dirty="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prediction</a:t>
            </a:r>
          </a:p>
          <a:p>
            <a:pPr marL="634333" lvl="1" indent="-317167" algn="l">
              <a:lnSpc>
                <a:spcPts val="3525"/>
              </a:lnSpc>
              <a:buFont typeface="Arial"/>
              <a:buChar char="•"/>
            </a:pPr>
            <a:r>
              <a:rPr lang="en-US" sz="2938" b="1" dirty="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Random Forest, </a:t>
            </a:r>
            <a:r>
              <a:rPr lang="en-US" sz="2938" b="1" dirty="0" err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CatBoost</a:t>
            </a:r>
            <a:r>
              <a:rPr lang="en-US" sz="2938" b="1" dirty="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, </a:t>
            </a:r>
            <a:r>
              <a:rPr lang="en-US" sz="2938" b="1" dirty="0" err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LightGBM</a:t>
            </a:r>
            <a:r>
              <a:rPr lang="en-US" sz="2938" b="1" dirty="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→ Used for model comparison and performance evaluation</a:t>
            </a:r>
          </a:p>
          <a:p>
            <a:pPr marL="634333" lvl="1" indent="-317167" algn="l">
              <a:lnSpc>
                <a:spcPts val="3525"/>
              </a:lnSpc>
              <a:buFont typeface="Arial"/>
              <a:buChar char="•"/>
            </a:pPr>
            <a:r>
              <a:rPr lang="en-US" sz="2938" b="1" spc="-1" dirty="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Quantum Kernel Ridge Regression (QKRR) → Experimental quantum model for handling high-dimensional biological data</a:t>
            </a:r>
          </a:p>
          <a:p>
            <a:pPr marL="634333" lvl="1" indent="-317167" algn="l">
              <a:lnSpc>
                <a:spcPts val="3525"/>
              </a:lnSpc>
              <a:buFont typeface="Arial"/>
              <a:buChar char="•"/>
            </a:pPr>
            <a:r>
              <a:rPr lang="en-US" sz="2938" b="1" spc="-1" dirty="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Label Encoding → Encoding categorical cancer and cell-line information</a:t>
            </a:r>
          </a:p>
          <a:p>
            <a:pPr marL="634333" lvl="1" indent="-317167" algn="l">
              <a:lnSpc>
                <a:spcPts val="3525"/>
              </a:lnSpc>
              <a:buFont typeface="Arial"/>
              <a:buChar char="•"/>
            </a:pPr>
            <a:r>
              <a:rPr lang="en-US" sz="2938" b="1" dirty="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Forward &amp; Reverse Prediction Averaging → Final </a:t>
            </a:r>
            <a:r>
              <a:rPr lang="en-US" sz="2938" b="1" dirty="0" err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ComboScore</a:t>
            </a:r>
            <a:r>
              <a:rPr lang="en-US" sz="2938" b="1" dirty="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calculation for drug-pair order consistency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677342" y="5623686"/>
            <a:ext cx="16550097" cy="685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15265" lvl="1" indent="-307632" algn="l">
              <a:lnSpc>
                <a:spcPts val="4800"/>
              </a:lnSpc>
              <a:buFont typeface="Arial"/>
              <a:buChar char="•"/>
            </a:pPr>
            <a:r>
              <a:rPr lang="en-US" sz="4000" b="1" spc="-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Technologies &amp; Frameworks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05554" y="6252336"/>
            <a:ext cx="15569632" cy="3486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13158" lvl="1" indent="-306579" algn="l">
              <a:lnSpc>
                <a:spcPts val="3408"/>
              </a:lnSpc>
              <a:buFont typeface="Arial"/>
              <a:buChar char="•"/>
            </a:pPr>
            <a:r>
              <a:rPr lang="en-US" sz="2840" b="1" spc="-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Python for backend and machine learning development</a:t>
            </a:r>
          </a:p>
          <a:p>
            <a:pPr marL="613158" lvl="1" indent="-306579" algn="l">
              <a:lnSpc>
                <a:spcPts val="3408"/>
              </a:lnSpc>
              <a:buFont typeface="Arial"/>
              <a:buChar char="•"/>
            </a:pPr>
            <a:r>
              <a:rPr lang="en-US" sz="2840" b="1" spc="-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HTML, CSS, and JavaScript for frontend development</a:t>
            </a:r>
          </a:p>
          <a:p>
            <a:pPr marL="613158" lvl="1" indent="-306579" algn="l">
              <a:lnSpc>
                <a:spcPts val="3408"/>
              </a:lnSpc>
              <a:buFont typeface="Arial"/>
              <a:buChar char="•"/>
            </a:pPr>
            <a:r>
              <a:rPr lang="en-US" sz="2840" b="1" spc="-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Flask for backend APIs and request handling</a:t>
            </a:r>
          </a:p>
          <a:p>
            <a:pPr marL="613158" lvl="1" indent="-306579" algn="l">
              <a:lnSpc>
                <a:spcPts val="3408"/>
              </a:lnSpc>
              <a:buFont typeface="Arial"/>
              <a:buChar char="•"/>
            </a:pPr>
            <a:r>
              <a:rPr lang="en-US" sz="2840" b="1" spc="-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Pandas and NumPy for preprocessing and data handling</a:t>
            </a:r>
          </a:p>
          <a:p>
            <a:pPr marL="613158" lvl="1" indent="-306579" algn="l">
              <a:lnSpc>
                <a:spcPts val="3408"/>
              </a:lnSpc>
              <a:buFont typeface="Arial"/>
              <a:buChar char="•"/>
            </a:pPr>
            <a:r>
              <a:rPr lang="en-US" sz="2840" b="1" spc="-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Scikit-learn and XGBoost for machine learning workflows</a:t>
            </a:r>
          </a:p>
          <a:p>
            <a:pPr marL="613158" lvl="1" indent="-306579" algn="l">
              <a:lnSpc>
                <a:spcPts val="3408"/>
              </a:lnSpc>
              <a:buFont typeface="Arial"/>
              <a:buChar char="•"/>
            </a:pPr>
            <a:r>
              <a:rPr lang="en-US" sz="2840" b="1" spc="-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RDKit for drug molecular fingerprint generation</a:t>
            </a:r>
          </a:p>
          <a:p>
            <a:pPr marL="613158" lvl="1" indent="-306579" algn="l">
              <a:lnSpc>
                <a:spcPts val="3408"/>
              </a:lnSpc>
              <a:buFont typeface="Arial"/>
              <a:buChar char="•"/>
            </a:pPr>
            <a:r>
              <a:rPr lang="en-US" sz="2840" b="1" spc="-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SHAP for model interpretability</a:t>
            </a:r>
          </a:p>
          <a:p>
            <a:pPr marL="613158" lvl="1" indent="-306579" algn="l">
              <a:lnSpc>
                <a:spcPts val="3408"/>
              </a:lnSpc>
              <a:buFont typeface="Arial"/>
              <a:buChar char="•"/>
            </a:pPr>
            <a:r>
              <a:rPr lang="en-US" sz="2840" b="1" spc="-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Git and GitHub for version control and repository management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19329" y="115024"/>
            <a:ext cx="16580977" cy="1469155"/>
            <a:chOff x="0" y="0"/>
            <a:chExt cx="22107970" cy="195887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2107975" cy="1958878"/>
            </a:xfrm>
            <a:custGeom>
              <a:avLst/>
              <a:gdLst/>
              <a:ahLst/>
              <a:cxnLst/>
              <a:rect l="l" t="t" r="r" b="b"/>
              <a:pathLst>
                <a:path w="22107975" h="1958878">
                  <a:moveTo>
                    <a:pt x="0" y="0"/>
                  </a:moveTo>
                  <a:lnTo>
                    <a:pt x="22107975" y="0"/>
                  </a:lnTo>
                  <a:lnTo>
                    <a:pt x="22107975" y="1958878"/>
                  </a:lnTo>
                  <a:lnTo>
                    <a:pt x="0" y="195887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69908" b="-169908"/>
              </a:stretch>
            </a:blipFill>
          </p:spPr>
        </p:sp>
        <p:sp>
          <p:nvSpPr>
            <p:cNvPr id="4" name="TextBox 4"/>
            <p:cNvSpPr txBox="1"/>
            <p:nvPr/>
          </p:nvSpPr>
          <p:spPr>
            <a:xfrm>
              <a:off x="0" y="0"/>
              <a:ext cx="22107970" cy="195887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382"/>
                </a:lnSpc>
              </a:pPr>
              <a:endParaRPr/>
            </a:p>
            <a:p>
              <a:pPr algn="l">
                <a:lnSpc>
                  <a:spcPts val="4530"/>
                </a:lnSpc>
              </a:pPr>
              <a:r>
                <a:rPr lang="en-US" sz="4719" b="1" spc="-1">
                  <a:solidFill>
                    <a:srgbClr val="8A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Proposed Solution</a:t>
              </a:r>
            </a:p>
            <a:p>
              <a:pPr algn="l">
                <a:lnSpc>
                  <a:spcPts val="4530"/>
                </a:lnSpc>
              </a:pPr>
              <a:endParaRPr lang="en-US" sz="4719" b="1" spc="-1">
                <a:solidFill>
                  <a:srgbClr val="8A0000"/>
                </a:solidFill>
                <a:latin typeface="Calibri (MS) Bold"/>
                <a:ea typeface="Calibri (MS) Bold"/>
                <a:cs typeface="Calibri (MS) Bold"/>
                <a:sym typeface="Calibri (MS) Bold"/>
              </a:endParaRPr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677342" y="1116974"/>
            <a:ext cx="16550097" cy="3124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15272" lvl="1" indent="-307636" algn="l">
              <a:lnSpc>
                <a:spcPts val="4800"/>
              </a:lnSpc>
              <a:buFont typeface="Arial"/>
              <a:buChar char="•"/>
            </a:pPr>
            <a:r>
              <a:rPr lang="en-US" sz="4000" b="1" spc="-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Development Tools</a:t>
            </a:r>
          </a:p>
          <a:p>
            <a:pPr marL="615272" lvl="1" indent="-307636" algn="l">
              <a:lnSpc>
                <a:spcPts val="4800"/>
              </a:lnSpc>
            </a:pPr>
            <a:endParaRPr lang="en-US" sz="4000" b="1" spc="-1">
              <a:solidFill>
                <a:srgbClr val="000000"/>
              </a:solidFill>
              <a:latin typeface="Calibri (MS) Bold"/>
              <a:ea typeface="Calibri (MS) Bold"/>
              <a:cs typeface="Calibri (MS) Bold"/>
              <a:sym typeface="Calibri (MS) Bold"/>
            </a:endParaRPr>
          </a:p>
          <a:p>
            <a:pPr marL="615272" lvl="1" indent="-307636" algn="l">
              <a:lnSpc>
                <a:spcPts val="4800"/>
              </a:lnSpc>
            </a:pPr>
            <a:endParaRPr lang="en-US" sz="4000" b="1" spc="-1">
              <a:solidFill>
                <a:srgbClr val="000000"/>
              </a:solidFill>
              <a:latin typeface="Calibri (MS) Bold"/>
              <a:ea typeface="Calibri (MS) Bold"/>
              <a:cs typeface="Calibri (MS) Bold"/>
              <a:sym typeface="Calibri (MS) Bold"/>
            </a:endParaRPr>
          </a:p>
          <a:p>
            <a:pPr marL="615272" lvl="1" indent="-307636" algn="l">
              <a:lnSpc>
                <a:spcPts val="4800"/>
              </a:lnSpc>
            </a:pPr>
            <a:endParaRPr lang="en-US" sz="4000" b="1" spc="-1">
              <a:solidFill>
                <a:srgbClr val="000000"/>
              </a:solidFill>
              <a:latin typeface="Calibri (MS) Bold"/>
              <a:ea typeface="Calibri (MS) Bold"/>
              <a:cs typeface="Calibri (MS) Bold"/>
              <a:sym typeface="Calibri (MS) Bold"/>
            </a:endParaRPr>
          </a:p>
          <a:p>
            <a:pPr marL="615272" lvl="1" indent="-307636" algn="l">
              <a:lnSpc>
                <a:spcPts val="4800"/>
              </a:lnSpc>
            </a:pPr>
            <a:endParaRPr lang="en-US" sz="4000" b="1" spc="-1">
              <a:solidFill>
                <a:srgbClr val="000000"/>
              </a:solidFill>
              <a:latin typeface="Calibri (MS) Bold"/>
              <a:ea typeface="Calibri (MS) Bold"/>
              <a:cs typeface="Calibri (MS) Bold"/>
              <a:sym typeface="Calibri (MS) Bold"/>
            </a:endParaRPr>
          </a:p>
        </p:txBody>
      </p:sp>
      <p:grpSp>
        <p:nvGrpSpPr>
          <p:cNvPr id="6" name="Group 6"/>
          <p:cNvGrpSpPr/>
          <p:nvPr/>
        </p:nvGrpSpPr>
        <p:grpSpPr>
          <a:xfrm>
            <a:off x="17227439" y="9458096"/>
            <a:ext cx="913676" cy="713880"/>
            <a:chOff x="0" y="0"/>
            <a:chExt cx="1218235" cy="95184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218240" cy="951840"/>
            </a:xfrm>
            <a:custGeom>
              <a:avLst/>
              <a:gdLst/>
              <a:ahLst/>
              <a:cxnLst/>
              <a:rect l="l" t="t" r="r" b="b"/>
              <a:pathLst>
                <a:path w="1218240" h="951840">
                  <a:moveTo>
                    <a:pt x="0" y="0"/>
                  </a:moveTo>
                  <a:lnTo>
                    <a:pt x="1218240" y="0"/>
                  </a:lnTo>
                  <a:lnTo>
                    <a:pt x="1218240" y="951840"/>
                  </a:lnTo>
                  <a:lnTo>
                    <a:pt x="0" y="9518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50246" r="-50246"/>
              </a:stretch>
            </a:blipFill>
          </p:spPr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1218235" cy="999465"/>
            </a:xfrm>
            <a:prstGeom prst="rect">
              <a:avLst/>
            </a:prstGeom>
          </p:spPr>
          <p:txBody>
            <a:bodyPr lIns="0" tIns="0" rIns="0" bIns="0" rtlCol="0" anchor="b"/>
            <a:lstStyle/>
            <a:p>
              <a:pPr algn="ctr">
                <a:lnSpc>
                  <a:spcPts val="2879"/>
                </a:lnSpc>
              </a:pPr>
              <a:r>
                <a:rPr lang="en-US" sz="2400" spc="-1">
                  <a:solidFill>
                    <a:srgbClr val="B5A989"/>
                  </a:solidFill>
                  <a:latin typeface="Gill Sans Light"/>
                  <a:ea typeface="Gill Sans Light"/>
                  <a:cs typeface="Gill Sans Light"/>
                  <a:sym typeface="Gill Sans Light"/>
                </a:rPr>
                <a:t>12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5048652" y="240306"/>
            <a:ext cx="3053067" cy="774964"/>
            <a:chOff x="0" y="0"/>
            <a:chExt cx="4070756" cy="1033285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4070731" cy="1033272"/>
            </a:xfrm>
            <a:custGeom>
              <a:avLst/>
              <a:gdLst/>
              <a:ahLst/>
              <a:cxnLst/>
              <a:rect l="l" t="t" r="r" b="b"/>
              <a:pathLst>
                <a:path w="4070731" h="1033272">
                  <a:moveTo>
                    <a:pt x="0" y="0"/>
                  </a:moveTo>
                  <a:lnTo>
                    <a:pt x="4070731" y="0"/>
                  </a:lnTo>
                  <a:lnTo>
                    <a:pt x="4070731" y="1033272"/>
                  </a:lnTo>
                  <a:lnTo>
                    <a:pt x="0" y="10332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10989" b="-10989"/>
              </a:stretch>
            </a:blipFill>
          </p:spPr>
        </p:sp>
      </p:grpSp>
      <p:sp>
        <p:nvSpPr>
          <p:cNvPr id="11" name="TextBox 11"/>
          <p:cNvSpPr txBox="1"/>
          <p:nvPr/>
        </p:nvSpPr>
        <p:spPr>
          <a:xfrm>
            <a:off x="677342" y="5372100"/>
            <a:ext cx="16550097" cy="3124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15272" lvl="1" indent="-307636" algn="l">
              <a:lnSpc>
                <a:spcPts val="4800"/>
              </a:lnSpc>
              <a:buFont typeface="Arial"/>
              <a:buChar char="•"/>
            </a:pPr>
            <a:r>
              <a:rPr lang="en-US" sz="4000" b="1" spc="-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System Modules</a:t>
            </a:r>
          </a:p>
          <a:p>
            <a:pPr marL="615272" lvl="1" indent="-307636" algn="l">
              <a:lnSpc>
                <a:spcPts val="4800"/>
              </a:lnSpc>
            </a:pPr>
            <a:endParaRPr lang="en-US" sz="4000" b="1" spc="-1">
              <a:solidFill>
                <a:srgbClr val="000000"/>
              </a:solidFill>
              <a:latin typeface="Calibri (MS) Bold"/>
              <a:ea typeface="Calibri (MS) Bold"/>
              <a:cs typeface="Calibri (MS) Bold"/>
              <a:sym typeface="Calibri (MS) Bold"/>
            </a:endParaRPr>
          </a:p>
          <a:p>
            <a:pPr marL="615272" lvl="1" indent="-307636" algn="l">
              <a:lnSpc>
                <a:spcPts val="4800"/>
              </a:lnSpc>
            </a:pPr>
            <a:endParaRPr lang="en-US" sz="4000" b="1" spc="-1">
              <a:solidFill>
                <a:srgbClr val="000000"/>
              </a:solidFill>
              <a:latin typeface="Calibri (MS) Bold"/>
              <a:ea typeface="Calibri (MS) Bold"/>
              <a:cs typeface="Calibri (MS) Bold"/>
              <a:sym typeface="Calibri (MS) Bold"/>
            </a:endParaRPr>
          </a:p>
          <a:p>
            <a:pPr marL="615272" lvl="1" indent="-307636" algn="l">
              <a:lnSpc>
                <a:spcPts val="4800"/>
              </a:lnSpc>
            </a:pPr>
            <a:endParaRPr lang="en-US" sz="4000" b="1" spc="-1">
              <a:solidFill>
                <a:srgbClr val="000000"/>
              </a:solidFill>
              <a:latin typeface="Calibri (MS) Bold"/>
              <a:ea typeface="Calibri (MS) Bold"/>
              <a:cs typeface="Calibri (MS) Bold"/>
              <a:sym typeface="Calibri (MS) Bold"/>
            </a:endParaRPr>
          </a:p>
          <a:p>
            <a:pPr marL="615272" lvl="1" indent="-307636" algn="l">
              <a:lnSpc>
                <a:spcPts val="4800"/>
              </a:lnSpc>
            </a:pPr>
            <a:endParaRPr lang="en-US" sz="4000" b="1" spc="-1">
              <a:solidFill>
                <a:srgbClr val="000000"/>
              </a:solidFill>
              <a:latin typeface="Calibri (MS) Bold"/>
              <a:ea typeface="Calibri (MS) Bold"/>
              <a:cs typeface="Calibri (MS) Bold"/>
              <a:sym typeface="Calibri (MS) Bold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1359184" y="6106085"/>
            <a:ext cx="15569632" cy="3876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77927" lvl="1" indent="-338963" algn="l">
              <a:lnSpc>
                <a:spcPts val="3768"/>
              </a:lnSpc>
              <a:buFont typeface="Arial"/>
              <a:buChar char="•"/>
            </a:pPr>
            <a:r>
              <a:rPr lang="en-US" sz="3140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Validation Module for input verification</a:t>
            </a:r>
          </a:p>
          <a:p>
            <a:pPr marL="677927" lvl="1" indent="-338963" algn="l">
              <a:lnSpc>
                <a:spcPts val="3768"/>
              </a:lnSpc>
              <a:buFont typeface="Arial"/>
              <a:buChar char="•"/>
            </a:pPr>
            <a:r>
              <a:rPr lang="en-US" sz="3140" b="1" spc="-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Feature Construction Module for generating model inputs</a:t>
            </a:r>
          </a:p>
          <a:p>
            <a:pPr marL="677927" lvl="1" indent="-338963" algn="l">
              <a:lnSpc>
                <a:spcPts val="3768"/>
              </a:lnSpc>
              <a:buFont typeface="Arial"/>
              <a:buChar char="•"/>
            </a:pPr>
            <a:r>
              <a:rPr lang="en-US" sz="3140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Prediction Module for ComboScore prediction</a:t>
            </a:r>
          </a:p>
          <a:p>
            <a:pPr marL="677927" lvl="1" indent="-338963" algn="l">
              <a:lnSpc>
                <a:spcPts val="3768"/>
              </a:lnSpc>
              <a:buFont typeface="Arial"/>
              <a:buChar char="•"/>
            </a:pPr>
            <a:r>
              <a:rPr lang="en-US" sz="3140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Explainability Module using SHAP</a:t>
            </a:r>
          </a:p>
          <a:p>
            <a:pPr marL="677927" lvl="1" indent="-338963" algn="l">
              <a:lnSpc>
                <a:spcPts val="3768"/>
              </a:lnSpc>
              <a:buFont typeface="Arial"/>
              <a:buChar char="•"/>
            </a:pPr>
            <a:r>
              <a:rPr lang="en-US" sz="3140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Batch Prediction Module for CSV-based predictions</a:t>
            </a:r>
          </a:p>
          <a:p>
            <a:pPr marL="677927" lvl="1" indent="-338963" algn="l">
              <a:lnSpc>
                <a:spcPts val="3768"/>
              </a:lnSpc>
              <a:buFont typeface="Arial"/>
              <a:buChar char="•"/>
            </a:pPr>
            <a:r>
              <a:rPr lang="en-US" sz="3140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Drug Information Module for metadata and structure information</a:t>
            </a:r>
          </a:p>
          <a:p>
            <a:pPr marL="677927" lvl="1" indent="-338963" algn="l">
              <a:lnSpc>
                <a:spcPts val="3768"/>
              </a:lnSpc>
              <a:buFont typeface="Arial"/>
              <a:buChar char="•"/>
            </a:pPr>
            <a:r>
              <a:rPr lang="en-US" sz="3140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Chat Assistant Module for user interaction and guidance</a:t>
            </a:r>
          </a:p>
          <a:p>
            <a:pPr algn="l">
              <a:lnSpc>
                <a:spcPts val="3768"/>
              </a:lnSpc>
            </a:pPr>
            <a:endParaRPr lang="en-US" sz="3140" b="1">
              <a:solidFill>
                <a:srgbClr val="000000"/>
              </a:solidFill>
              <a:latin typeface="Calibri (MS) Bold"/>
              <a:ea typeface="Calibri (MS) Bold"/>
              <a:cs typeface="Calibri (MS) Bold"/>
              <a:sym typeface="Calibri (MS) Bold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1359184" y="1960973"/>
            <a:ext cx="13269664" cy="2447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77927" lvl="1" indent="-338963" algn="l">
              <a:lnSpc>
                <a:spcPts val="3768"/>
              </a:lnSpc>
              <a:buFont typeface="Arial"/>
              <a:buChar char="•"/>
            </a:pPr>
            <a:r>
              <a:rPr lang="en-US" sz="3140" b="1" spc="-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Google Colab and Jupyter Notebook for experimentation and model training</a:t>
            </a:r>
          </a:p>
          <a:p>
            <a:pPr marL="677927" lvl="1" indent="-338963" algn="l">
              <a:lnSpc>
                <a:spcPts val="3768"/>
              </a:lnSpc>
              <a:buFont typeface="Arial"/>
              <a:buChar char="•"/>
            </a:pPr>
            <a:r>
              <a:rPr lang="en-US" sz="3140" b="1" spc="-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Visual Studio Code for application development</a:t>
            </a:r>
          </a:p>
          <a:p>
            <a:pPr marL="677927" lvl="1" indent="-338963" algn="l">
              <a:lnSpc>
                <a:spcPts val="3768"/>
              </a:lnSpc>
              <a:buFont typeface="Arial"/>
              <a:buChar char="•"/>
            </a:pPr>
            <a:r>
              <a:rPr lang="en-US" sz="3140" b="1" spc="-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Git LFS for handling large model files</a:t>
            </a:r>
          </a:p>
          <a:p>
            <a:pPr marL="677927" lvl="1" indent="-338963" algn="l">
              <a:lnSpc>
                <a:spcPts val="3768"/>
              </a:lnSpc>
              <a:buFont typeface="Arial"/>
              <a:buChar char="•"/>
            </a:pPr>
            <a:r>
              <a:rPr lang="en-US" sz="3140" b="1" spc="-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Python Virtual Environment for dependency management</a:t>
            </a:r>
          </a:p>
          <a:p>
            <a:pPr marL="677927" lvl="1" indent="-338963" algn="l">
              <a:lnSpc>
                <a:spcPts val="3768"/>
              </a:lnSpc>
              <a:buFont typeface="Arial"/>
              <a:buChar char="•"/>
            </a:pPr>
            <a:r>
              <a:rPr lang="en-US" sz="3140" b="1" spc="-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PowerShell / Command Prompt for server and Git operations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19329" y="115024"/>
            <a:ext cx="16580977" cy="2131654"/>
            <a:chOff x="0" y="0"/>
            <a:chExt cx="22107970" cy="284220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2107975" cy="2842210"/>
            </a:xfrm>
            <a:custGeom>
              <a:avLst/>
              <a:gdLst/>
              <a:ahLst/>
              <a:cxnLst/>
              <a:rect l="l" t="t" r="r" b="b"/>
              <a:pathLst>
                <a:path w="22107975" h="2842210">
                  <a:moveTo>
                    <a:pt x="0" y="0"/>
                  </a:moveTo>
                  <a:lnTo>
                    <a:pt x="22107975" y="0"/>
                  </a:lnTo>
                  <a:lnTo>
                    <a:pt x="22107975" y="2842210"/>
                  </a:lnTo>
                  <a:lnTo>
                    <a:pt x="0" y="284221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17102" b="-86023"/>
              </a:stretch>
            </a:blipFill>
          </p:spPr>
        </p:sp>
        <p:sp>
          <p:nvSpPr>
            <p:cNvPr id="4" name="TextBox 4"/>
            <p:cNvSpPr txBox="1"/>
            <p:nvPr/>
          </p:nvSpPr>
          <p:spPr>
            <a:xfrm>
              <a:off x="0" y="0"/>
              <a:ext cx="22107970" cy="284220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382"/>
                </a:lnSpc>
              </a:pPr>
              <a:r>
                <a:rPr lang="en-US" sz="1439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=</a:t>
              </a:r>
            </a:p>
            <a:p>
              <a:pPr algn="l">
                <a:lnSpc>
                  <a:spcPts val="4530"/>
                </a:lnSpc>
              </a:pPr>
              <a:r>
                <a:rPr lang="en-US" sz="4719" b="1">
                  <a:solidFill>
                    <a:srgbClr val="8A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Simulation and Results</a:t>
              </a:r>
            </a:p>
            <a:p>
              <a:pPr algn="l">
                <a:lnSpc>
                  <a:spcPts val="4530"/>
                </a:lnSpc>
              </a:pPr>
              <a:endParaRPr lang="en-US" sz="4719" b="1">
                <a:solidFill>
                  <a:srgbClr val="8A0000"/>
                </a:solidFill>
                <a:latin typeface="Calibri (MS) Bold"/>
                <a:ea typeface="Calibri (MS) Bold"/>
                <a:cs typeface="Calibri (MS) Bold"/>
                <a:sym typeface="Calibri (MS) Bold"/>
              </a:endParaRPr>
            </a:p>
            <a:p>
              <a:pPr algn="l">
                <a:lnSpc>
                  <a:spcPts val="4530"/>
                </a:lnSpc>
              </a:pPr>
              <a:r>
                <a:rPr lang="en-US" sz="4719" b="1" spc="-1">
                  <a:solidFill>
                    <a:srgbClr val="57231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 </a:t>
              </a:r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539334" y="1094851"/>
            <a:ext cx="9625712" cy="1924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65456" lvl="1" indent="-282728" algn="l">
              <a:lnSpc>
                <a:spcPts val="4411"/>
              </a:lnSpc>
              <a:buFont typeface="Arial"/>
              <a:buChar char="•"/>
            </a:pPr>
            <a:r>
              <a:rPr lang="en-US" sz="3676" b="1" spc="-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Dataset Overview (parameter Description)</a:t>
            </a:r>
          </a:p>
          <a:p>
            <a:pPr marL="334764" lvl="1" indent="-167382" algn="l">
              <a:lnSpc>
                <a:spcPts val="2611"/>
              </a:lnSpc>
            </a:pPr>
            <a:endParaRPr lang="en-US" sz="3676" b="1" spc="-1">
              <a:solidFill>
                <a:srgbClr val="000000"/>
              </a:solidFill>
              <a:latin typeface="Calibri (MS) Bold"/>
              <a:ea typeface="Calibri (MS) Bold"/>
              <a:cs typeface="Calibri (MS) Bold"/>
              <a:sym typeface="Calibri (MS) Bold"/>
            </a:endParaRPr>
          </a:p>
          <a:p>
            <a:pPr marL="334764" lvl="1" indent="-167382" algn="l">
              <a:lnSpc>
                <a:spcPts val="2611"/>
              </a:lnSpc>
            </a:pPr>
            <a:endParaRPr lang="en-US" sz="3676" b="1" spc="-1">
              <a:solidFill>
                <a:srgbClr val="000000"/>
              </a:solidFill>
              <a:latin typeface="Calibri (MS) Bold"/>
              <a:ea typeface="Calibri (MS) Bold"/>
              <a:cs typeface="Calibri (MS) Bold"/>
              <a:sym typeface="Calibri (MS) Bold"/>
            </a:endParaRPr>
          </a:p>
          <a:p>
            <a:pPr marL="334764" lvl="1" indent="-167382" algn="l">
              <a:lnSpc>
                <a:spcPts val="2611"/>
              </a:lnSpc>
            </a:pPr>
            <a:endParaRPr lang="en-US" sz="3676" b="1" spc="-1">
              <a:solidFill>
                <a:srgbClr val="000000"/>
              </a:solidFill>
              <a:latin typeface="Calibri (MS) Bold"/>
              <a:ea typeface="Calibri (MS) Bold"/>
              <a:cs typeface="Calibri (MS) Bold"/>
              <a:sym typeface="Calibri (MS) Bold"/>
            </a:endParaRPr>
          </a:p>
          <a:p>
            <a:pPr marL="334764" lvl="1" indent="-167382" algn="l">
              <a:lnSpc>
                <a:spcPts val="2611"/>
              </a:lnSpc>
            </a:pPr>
            <a:endParaRPr lang="en-US" sz="3676" b="1" spc="-1">
              <a:solidFill>
                <a:srgbClr val="000000"/>
              </a:solidFill>
              <a:latin typeface="Calibri (MS) Bold"/>
              <a:ea typeface="Calibri (MS) Bold"/>
              <a:cs typeface="Calibri (MS) Bold"/>
              <a:sym typeface="Calibri (MS) Bold"/>
            </a:endParaRPr>
          </a:p>
        </p:txBody>
      </p:sp>
      <p:grpSp>
        <p:nvGrpSpPr>
          <p:cNvPr id="6" name="Group 6"/>
          <p:cNvGrpSpPr/>
          <p:nvPr/>
        </p:nvGrpSpPr>
        <p:grpSpPr>
          <a:xfrm>
            <a:off x="17227439" y="9458096"/>
            <a:ext cx="913676" cy="713880"/>
            <a:chOff x="0" y="0"/>
            <a:chExt cx="1218235" cy="95184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218240" cy="951840"/>
            </a:xfrm>
            <a:custGeom>
              <a:avLst/>
              <a:gdLst/>
              <a:ahLst/>
              <a:cxnLst/>
              <a:rect l="l" t="t" r="r" b="b"/>
              <a:pathLst>
                <a:path w="1218240" h="951840">
                  <a:moveTo>
                    <a:pt x="0" y="0"/>
                  </a:moveTo>
                  <a:lnTo>
                    <a:pt x="1218240" y="0"/>
                  </a:lnTo>
                  <a:lnTo>
                    <a:pt x="1218240" y="951840"/>
                  </a:lnTo>
                  <a:lnTo>
                    <a:pt x="0" y="9518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50246" r="-50246"/>
              </a:stretch>
            </a:blipFill>
          </p:spPr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1218235" cy="999465"/>
            </a:xfrm>
            <a:prstGeom prst="rect">
              <a:avLst/>
            </a:prstGeom>
          </p:spPr>
          <p:txBody>
            <a:bodyPr lIns="0" tIns="0" rIns="0" bIns="0" rtlCol="0" anchor="b"/>
            <a:lstStyle/>
            <a:p>
              <a:pPr algn="ctr">
                <a:lnSpc>
                  <a:spcPts val="2879"/>
                </a:lnSpc>
              </a:pPr>
              <a:r>
                <a:rPr lang="en-US" sz="2400" spc="-1">
                  <a:solidFill>
                    <a:srgbClr val="B5A989"/>
                  </a:solidFill>
                  <a:latin typeface="Gill Sans Light"/>
                  <a:ea typeface="Gill Sans Light"/>
                  <a:cs typeface="Gill Sans Light"/>
                  <a:sym typeface="Gill Sans Light"/>
                </a:rPr>
                <a:t>13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5048652" y="240306"/>
            <a:ext cx="3053067" cy="774964"/>
            <a:chOff x="0" y="0"/>
            <a:chExt cx="4070756" cy="1033285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4070731" cy="1033272"/>
            </a:xfrm>
            <a:custGeom>
              <a:avLst/>
              <a:gdLst/>
              <a:ahLst/>
              <a:cxnLst/>
              <a:rect l="l" t="t" r="r" b="b"/>
              <a:pathLst>
                <a:path w="4070731" h="1033272">
                  <a:moveTo>
                    <a:pt x="0" y="0"/>
                  </a:moveTo>
                  <a:lnTo>
                    <a:pt x="4070731" y="0"/>
                  </a:lnTo>
                  <a:lnTo>
                    <a:pt x="4070731" y="1033272"/>
                  </a:lnTo>
                  <a:lnTo>
                    <a:pt x="0" y="10332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10989" b="-10989"/>
              </a:stretch>
            </a:blipFill>
          </p:spPr>
        </p:sp>
      </p:grpSp>
      <p:sp>
        <p:nvSpPr>
          <p:cNvPr id="11" name="TextBox 11"/>
          <p:cNvSpPr txBox="1"/>
          <p:nvPr/>
        </p:nvSpPr>
        <p:spPr>
          <a:xfrm>
            <a:off x="1028700" y="1893174"/>
            <a:ext cx="8338932" cy="2686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80"/>
              </a:lnSpc>
              <a:spcBef>
                <a:spcPct val="0"/>
              </a:spcBef>
            </a:pPr>
            <a:r>
              <a:rPr lang="en-US" sz="2900" b="1" spc="-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Source: NCI ALMANAC Dataset</a:t>
            </a:r>
          </a:p>
          <a:p>
            <a:pPr algn="l">
              <a:lnSpc>
                <a:spcPts val="3480"/>
              </a:lnSpc>
              <a:spcBef>
                <a:spcPct val="0"/>
              </a:spcBef>
            </a:pPr>
            <a:r>
              <a:rPr lang="en-US" sz="2900" b="1" spc="-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128,445 samples (drug pair × cell line combinations)</a:t>
            </a:r>
          </a:p>
          <a:p>
            <a:pPr algn="l">
              <a:lnSpc>
                <a:spcPts val="3480"/>
              </a:lnSpc>
              <a:spcBef>
                <a:spcPct val="0"/>
              </a:spcBef>
            </a:pPr>
            <a:r>
              <a:rPr lang="en-US" sz="2900" b="1" spc="-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86 drugs, 38 cell lines, 9 cancer types</a:t>
            </a:r>
          </a:p>
          <a:p>
            <a:pPr algn="l">
              <a:lnSpc>
                <a:spcPts val="3480"/>
              </a:lnSpc>
              <a:spcBef>
                <a:spcPct val="0"/>
              </a:spcBef>
            </a:pPr>
            <a:r>
              <a:rPr lang="en-US" sz="2900" b="1" spc="-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Each sample represents:</a:t>
            </a:r>
          </a:p>
          <a:p>
            <a:pPr algn="l">
              <a:lnSpc>
                <a:spcPts val="3480"/>
              </a:lnSpc>
              <a:spcBef>
                <a:spcPct val="0"/>
              </a:spcBef>
            </a:pPr>
            <a:r>
              <a:rPr lang="en-US" sz="2900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→ A drug pair tested on a specific cancer cell line</a:t>
            </a:r>
          </a:p>
          <a:p>
            <a:pPr algn="l">
              <a:lnSpc>
                <a:spcPts val="3480"/>
              </a:lnSpc>
              <a:spcBef>
                <a:spcPct val="0"/>
              </a:spcBef>
            </a:pPr>
            <a:r>
              <a:rPr lang="en-US" sz="2900" b="1" spc="-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High-dimensional data: ~1160 features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38225" y="4938236"/>
            <a:ext cx="13304816" cy="4876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80"/>
              </a:lnSpc>
              <a:spcBef>
                <a:spcPct val="0"/>
              </a:spcBef>
            </a:pPr>
            <a:r>
              <a:rPr lang="en-US" sz="2900" b="1" spc="-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Feature Group  → What it describes         → Why useful for synergy</a:t>
            </a:r>
          </a:p>
          <a:p>
            <a:pPr algn="l">
              <a:lnSpc>
                <a:spcPts val="3480"/>
              </a:lnSpc>
              <a:spcBef>
                <a:spcPct val="0"/>
              </a:spcBef>
            </a:pPr>
            <a:r>
              <a:rPr lang="en-US" sz="2900" b="1" spc="-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─────────────────────────────────────────────────────────────────</a:t>
            </a:r>
          </a:p>
          <a:p>
            <a:pPr algn="l">
              <a:lnSpc>
                <a:spcPts val="3480"/>
              </a:lnSpc>
              <a:spcBef>
                <a:spcPct val="0"/>
              </a:spcBef>
            </a:pPr>
            <a:r>
              <a:rPr lang="en-US" sz="2900" b="1" spc="-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DD  (206)      → Drug chemical structure   → What the drug looks like chemically</a:t>
            </a:r>
          </a:p>
          <a:p>
            <a:pPr algn="l">
              <a:lnSpc>
                <a:spcPts val="3480"/>
              </a:lnSpc>
              <a:spcBef>
                <a:spcPct val="0"/>
              </a:spcBef>
            </a:pPr>
            <a:r>
              <a:rPr lang="en-US" sz="2900" b="1" spc="-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DDP (157)      → Drug pair pathway effect  → How A+B together affect each pathway</a:t>
            </a:r>
          </a:p>
          <a:p>
            <a:pPr algn="l">
              <a:lnSpc>
                <a:spcPts val="3480"/>
              </a:lnSpc>
              <a:spcBef>
                <a:spcPct val="0"/>
              </a:spcBef>
            </a:pPr>
            <a:r>
              <a:rPr lang="en-US" sz="2900" b="1" spc="-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CNV (157)      → Gene copy numbers         → How many copies of each gene</a:t>
            </a:r>
          </a:p>
          <a:p>
            <a:pPr algn="l">
              <a:lnSpc>
                <a:spcPts val="3480"/>
              </a:lnSpc>
              <a:spcBef>
                <a:spcPct val="0"/>
              </a:spcBef>
            </a:pPr>
            <a:r>
              <a:rPr lang="en-US" sz="2900" b="1" spc="-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EXP (157)      → Gene activity levels      → Which pathways are switched on</a:t>
            </a:r>
          </a:p>
          <a:p>
            <a:pPr algn="l">
              <a:lnSpc>
                <a:spcPts val="3480"/>
              </a:lnSpc>
              <a:spcBef>
                <a:spcPct val="0"/>
              </a:spcBef>
            </a:pPr>
            <a:r>
              <a:rPr lang="en-US" sz="2900" b="1" spc="-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Methy (157)    → Gene silencing patterns   → Which pathways are epigenetically off</a:t>
            </a:r>
          </a:p>
          <a:p>
            <a:pPr algn="l">
              <a:lnSpc>
                <a:spcPts val="3480"/>
              </a:lnSpc>
              <a:spcBef>
                <a:spcPct val="0"/>
              </a:spcBef>
            </a:pPr>
            <a:r>
              <a:rPr lang="en-US" sz="2900" b="1" spc="-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Mut  (157)     → Gene mutations            → Which genes are broken</a:t>
            </a:r>
          </a:p>
          <a:p>
            <a:pPr algn="l">
              <a:lnSpc>
                <a:spcPts val="3480"/>
              </a:lnSpc>
              <a:spcBef>
                <a:spcPct val="0"/>
              </a:spcBef>
            </a:pPr>
            <a:r>
              <a:rPr lang="en-US" sz="2900" b="1" spc="-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RNAi (157)     → Pathway dependencies      → Which pathways cancer needs to survive</a:t>
            </a:r>
          </a:p>
          <a:p>
            <a:pPr algn="l">
              <a:lnSpc>
                <a:spcPts val="3480"/>
              </a:lnSpc>
              <a:spcBef>
                <a:spcPct val="0"/>
              </a:spcBef>
            </a:pPr>
            <a:r>
              <a:rPr lang="en-US" sz="2900" b="1" spc="-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─────────────────────────────────────────────────────────────────</a:t>
            </a:r>
          </a:p>
          <a:p>
            <a:pPr algn="l">
              <a:lnSpc>
                <a:spcPts val="3480"/>
              </a:lnSpc>
              <a:spcBef>
                <a:spcPct val="0"/>
              </a:spcBef>
            </a:pPr>
            <a:r>
              <a:rPr lang="en-US" sz="2900" b="1" spc="-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TOTAL: 1148 features + 12 meta = 1160 columns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19329" y="115024"/>
            <a:ext cx="16580977" cy="1469155"/>
            <a:chOff x="0" y="0"/>
            <a:chExt cx="22107970" cy="195887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2107975" cy="1958878"/>
            </a:xfrm>
            <a:custGeom>
              <a:avLst/>
              <a:gdLst/>
              <a:ahLst/>
              <a:cxnLst/>
              <a:rect l="l" t="t" r="r" b="b"/>
              <a:pathLst>
                <a:path w="22107975" h="1958878">
                  <a:moveTo>
                    <a:pt x="0" y="0"/>
                  </a:moveTo>
                  <a:lnTo>
                    <a:pt x="22107975" y="0"/>
                  </a:lnTo>
                  <a:lnTo>
                    <a:pt x="22107975" y="1958878"/>
                  </a:lnTo>
                  <a:lnTo>
                    <a:pt x="0" y="195887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69908" b="-169908"/>
              </a:stretch>
            </a:blipFill>
          </p:spPr>
        </p:sp>
        <p:sp>
          <p:nvSpPr>
            <p:cNvPr id="4" name="TextBox 4"/>
            <p:cNvSpPr txBox="1"/>
            <p:nvPr/>
          </p:nvSpPr>
          <p:spPr>
            <a:xfrm>
              <a:off x="0" y="0"/>
              <a:ext cx="22107970" cy="195887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382"/>
                </a:lnSpc>
              </a:pPr>
              <a:endParaRPr/>
            </a:p>
            <a:p>
              <a:pPr algn="l">
                <a:lnSpc>
                  <a:spcPts val="4530"/>
                </a:lnSpc>
              </a:pPr>
              <a:r>
                <a:rPr lang="en-US" sz="4719" b="1" spc="-1">
                  <a:solidFill>
                    <a:srgbClr val="8A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Simulation and Results</a:t>
              </a:r>
            </a:p>
            <a:p>
              <a:pPr algn="l">
                <a:lnSpc>
                  <a:spcPts val="4530"/>
                </a:lnSpc>
              </a:pPr>
              <a:endParaRPr lang="en-US" sz="4719" b="1" spc="-1">
                <a:solidFill>
                  <a:srgbClr val="8A0000"/>
                </a:solidFill>
                <a:latin typeface="Calibri (MS) Bold"/>
                <a:ea typeface="Calibri (MS) Bold"/>
                <a:cs typeface="Calibri (MS) Bold"/>
                <a:sym typeface="Calibri (MS) Bold"/>
              </a:endParaRPr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578729" y="1094851"/>
            <a:ext cx="16550097" cy="3124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15272" lvl="1" indent="-307636" algn="l">
              <a:lnSpc>
                <a:spcPts val="4800"/>
              </a:lnSpc>
              <a:buFont typeface="Arial"/>
              <a:buChar char="•"/>
            </a:pPr>
            <a:r>
              <a:rPr lang="en-US" sz="4000" b="1" u="sng" spc="-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Input – Output Descriptions</a:t>
            </a:r>
          </a:p>
          <a:p>
            <a:pPr marL="615272" lvl="1" indent="-307636" algn="l">
              <a:lnSpc>
                <a:spcPts val="4800"/>
              </a:lnSpc>
            </a:pPr>
            <a:endParaRPr lang="en-US" sz="4000" b="1" u="sng" spc="-1">
              <a:solidFill>
                <a:srgbClr val="000000"/>
              </a:solidFill>
              <a:latin typeface="Calibri (MS) Bold"/>
              <a:ea typeface="Calibri (MS) Bold"/>
              <a:cs typeface="Calibri (MS) Bold"/>
              <a:sym typeface="Calibri (MS) Bold"/>
            </a:endParaRPr>
          </a:p>
          <a:p>
            <a:pPr marL="615272" lvl="1" indent="-307636" algn="l">
              <a:lnSpc>
                <a:spcPts val="4800"/>
              </a:lnSpc>
            </a:pPr>
            <a:endParaRPr lang="en-US" sz="4000" b="1" u="sng" spc="-1">
              <a:solidFill>
                <a:srgbClr val="000000"/>
              </a:solidFill>
              <a:latin typeface="Calibri (MS) Bold"/>
              <a:ea typeface="Calibri (MS) Bold"/>
              <a:cs typeface="Calibri (MS) Bold"/>
              <a:sym typeface="Calibri (MS) Bold"/>
            </a:endParaRPr>
          </a:p>
          <a:p>
            <a:pPr marL="615272" lvl="1" indent="-307636" algn="l">
              <a:lnSpc>
                <a:spcPts val="4800"/>
              </a:lnSpc>
            </a:pPr>
            <a:endParaRPr lang="en-US" sz="4000" b="1" u="sng" spc="-1">
              <a:solidFill>
                <a:srgbClr val="000000"/>
              </a:solidFill>
              <a:latin typeface="Calibri (MS) Bold"/>
              <a:ea typeface="Calibri (MS) Bold"/>
              <a:cs typeface="Calibri (MS) Bold"/>
              <a:sym typeface="Calibri (MS) Bold"/>
            </a:endParaRPr>
          </a:p>
          <a:p>
            <a:pPr marL="615272" lvl="1" indent="-307636" algn="l">
              <a:lnSpc>
                <a:spcPts val="4800"/>
              </a:lnSpc>
            </a:pPr>
            <a:endParaRPr lang="en-US" sz="4000" b="1" u="sng" spc="-1">
              <a:solidFill>
                <a:srgbClr val="000000"/>
              </a:solidFill>
              <a:latin typeface="Calibri (MS) Bold"/>
              <a:ea typeface="Calibri (MS) Bold"/>
              <a:cs typeface="Calibri (MS) Bold"/>
              <a:sym typeface="Calibri (MS) Bold"/>
            </a:endParaRPr>
          </a:p>
        </p:txBody>
      </p:sp>
      <p:grpSp>
        <p:nvGrpSpPr>
          <p:cNvPr id="6" name="Group 6"/>
          <p:cNvGrpSpPr/>
          <p:nvPr/>
        </p:nvGrpSpPr>
        <p:grpSpPr>
          <a:xfrm>
            <a:off x="17227439" y="9458096"/>
            <a:ext cx="913676" cy="713880"/>
            <a:chOff x="0" y="0"/>
            <a:chExt cx="1218235" cy="95184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218240" cy="951840"/>
            </a:xfrm>
            <a:custGeom>
              <a:avLst/>
              <a:gdLst/>
              <a:ahLst/>
              <a:cxnLst/>
              <a:rect l="l" t="t" r="r" b="b"/>
              <a:pathLst>
                <a:path w="1218240" h="951840">
                  <a:moveTo>
                    <a:pt x="0" y="0"/>
                  </a:moveTo>
                  <a:lnTo>
                    <a:pt x="1218240" y="0"/>
                  </a:lnTo>
                  <a:lnTo>
                    <a:pt x="1218240" y="951840"/>
                  </a:lnTo>
                  <a:lnTo>
                    <a:pt x="0" y="9518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50246" r="-50246"/>
              </a:stretch>
            </a:blipFill>
          </p:spPr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1218235" cy="999465"/>
            </a:xfrm>
            <a:prstGeom prst="rect">
              <a:avLst/>
            </a:prstGeom>
          </p:spPr>
          <p:txBody>
            <a:bodyPr lIns="0" tIns="0" rIns="0" bIns="0" rtlCol="0" anchor="b"/>
            <a:lstStyle/>
            <a:p>
              <a:pPr algn="ctr">
                <a:lnSpc>
                  <a:spcPts val="2879"/>
                </a:lnSpc>
              </a:pPr>
              <a:r>
                <a:rPr lang="en-US" sz="2400" spc="-1">
                  <a:solidFill>
                    <a:srgbClr val="B5A989"/>
                  </a:solidFill>
                  <a:latin typeface="Gill Sans Light"/>
                  <a:ea typeface="Gill Sans Light"/>
                  <a:cs typeface="Gill Sans Light"/>
                  <a:sym typeface="Gill Sans Light"/>
                </a:rPr>
                <a:t>14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5048652" y="240306"/>
            <a:ext cx="3053067" cy="774964"/>
            <a:chOff x="0" y="0"/>
            <a:chExt cx="4070756" cy="1033285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4070731" cy="1033272"/>
            </a:xfrm>
            <a:custGeom>
              <a:avLst/>
              <a:gdLst/>
              <a:ahLst/>
              <a:cxnLst/>
              <a:rect l="l" t="t" r="r" b="b"/>
              <a:pathLst>
                <a:path w="4070731" h="1033272">
                  <a:moveTo>
                    <a:pt x="0" y="0"/>
                  </a:moveTo>
                  <a:lnTo>
                    <a:pt x="4070731" y="0"/>
                  </a:lnTo>
                  <a:lnTo>
                    <a:pt x="4070731" y="1033272"/>
                  </a:lnTo>
                  <a:lnTo>
                    <a:pt x="0" y="10332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10989" b="-10989"/>
              </a:stretch>
            </a:blipFill>
          </p:spPr>
        </p:sp>
      </p:grpSp>
      <p:sp>
        <p:nvSpPr>
          <p:cNvPr id="11" name="TextBox 11"/>
          <p:cNvSpPr txBox="1"/>
          <p:nvPr/>
        </p:nvSpPr>
        <p:spPr>
          <a:xfrm>
            <a:off x="578729" y="1757666"/>
            <a:ext cx="5610346" cy="647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560"/>
              </a:lnSpc>
              <a:spcBef>
                <a:spcPct val="0"/>
              </a:spcBef>
            </a:pPr>
            <a:r>
              <a:rPr lang="en-US" sz="3800" b="1" u="sng" spc="-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Single Prediction Input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28700" y="2378758"/>
            <a:ext cx="6801892" cy="2047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12582" lvl="1" indent="-356291" algn="l">
              <a:lnSpc>
                <a:spcPts val="3960"/>
              </a:lnSpc>
              <a:buFont typeface="Arial"/>
              <a:buChar char="•"/>
            </a:pPr>
            <a:r>
              <a:rPr lang="en-US" sz="3300" b="1" spc="-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Drug 1 ID</a:t>
            </a:r>
          </a:p>
          <a:p>
            <a:pPr marL="712582" lvl="1" indent="-356291" algn="l">
              <a:lnSpc>
                <a:spcPts val="3960"/>
              </a:lnSpc>
              <a:buFont typeface="Arial"/>
              <a:buChar char="•"/>
            </a:pPr>
            <a:r>
              <a:rPr lang="en-US" sz="3300" b="1" spc="-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Drug 2 ID</a:t>
            </a:r>
          </a:p>
          <a:p>
            <a:pPr marL="712582" lvl="1" indent="-356291" algn="l">
              <a:lnSpc>
                <a:spcPts val="3960"/>
              </a:lnSpc>
              <a:buFont typeface="Arial"/>
              <a:buChar char="•"/>
            </a:pPr>
            <a:r>
              <a:rPr lang="en-US" sz="3300" b="1" spc="-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Cell Line</a:t>
            </a:r>
          </a:p>
          <a:p>
            <a:pPr marL="712582" lvl="1" indent="-356291" algn="l">
              <a:lnSpc>
                <a:spcPts val="3960"/>
              </a:lnSpc>
              <a:buFont typeface="Arial"/>
              <a:buChar char="•"/>
            </a:pPr>
            <a:r>
              <a:rPr lang="en-US" sz="3300" b="1" spc="-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Optional: Cancer Type, Model Type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216911" y="4390501"/>
            <a:ext cx="5610346" cy="647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560"/>
              </a:lnSpc>
              <a:spcBef>
                <a:spcPct val="0"/>
              </a:spcBef>
            </a:pPr>
            <a:r>
              <a:rPr lang="en-US" sz="3800" b="1" u="sng" spc="-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Prediction Output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28700" y="5062841"/>
            <a:ext cx="7094041" cy="4029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12470" lvl="1" indent="-356235" algn="l">
              <a:lnSpc>
                <a:spcPts val="3960"/>
              </a:lnSpc>
              <a:buFont typeface="Arial"/>
              <a:buChar char="•"/>
            </a:pPr>
            <a:r>
              <a:rPr lang="en-US" sz="3300" b="1" spc="-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Predicted ComboScore</a:t>
            </a:r>
          </a:p>
          <a:p>
            <a:pPr marL="712470" lvl="1" indent="-356235" algn="l">
              <a:lnSpc>
                <a:spcPts val="3960"/>
              </a:lnSpc>
              <a:buFont typeface="Arial"/>
              <a:buChar char="•"/>
            </a:pPr>
            <a:r>
              <a:rPr lang="en-US" sz="3300" b="1" spc="-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Synergy Label</a:t>
            </a:r>
          </a:p>
          <a:p>
            <a:pPr marL="712470" lvl="1" indent="-356235" algn="l">
              <a:lnSpc>
                <a:spcPts val="3960"/>
              </a:lnSpc>
              <a:buFont typeface="Arial"/>
              <a:buChar char="•"/>
            </a:pPr>
            <a:r>
              <a:rPr lang="en-US" sz="3300" b="1" spc="-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Synergistic</a:t>
            </a:r>
          </a:p>
          <a:p>
            <a:pPr marL="712470" lvl="1" indent="-356235" algn="l">
              <a:lnSpc>
                <a:spcPts val="3960"/>
              </a:lnSpc>
              <a:buFont typeface="Arial"/>
              <a:buChar char="•"/>
            </a:pPr>
            <a:r>
              <a:rPr lang="en-US" sz="3300" b="1" spc="-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Neutral</a:t>
            </a:r>
          </a:p>
          <a:p>
            <a:pPr marL="712470" lvl="1" indent="-356235" algn="l">
              <a:lnSpc>
                <a:spcPts val="3960"/>
              </a:lnSpc>
              <a:buFont typeface="Arial"/>
              <a:buChar char="•"/>
            </a:pPr>
            <a:r>
              <a:rPr lang="en-US" sz="3300" b="1" spc="-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Antagonistic</a:t>
            </a:r>
          </a:p>
          <a:p>
            <a:pPr marL="712470" lvl="1" indent="-356235" algn="l">
              <a:lnSpc>
                <a:spcPts val="3960"/>
              </a:lnSpc>
              <a:buFont typeface="Arial"/>
              <a:buChar char="•"/>
            </a:pPr>
            <a:r>
              <a:rPr lang="en-US" sz="3300" b="1" spc="-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Forward &amp; Reverse Prediction Scores</a:t>
            </a:r>
          </a:p>
          <a:p>
            <a:pPr marL="712470" lvl="1" indent="-356235" algn="l">
              <a:lnSpc>
                <a:spcPts val="3960"/>
              </a:lnSpc>
              <a:buFont typeface="Arial"/>
              <a:buChar char="•"/>
            </a:pPr>
            <a:r>
              <a:rPr lang="en-US" sz="3300" b="1" spc="-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Drug and Cell-line Metadata</a:t>
            </a:r>
          </a:p>
          <a:p>
            <a:pPr marL="712470" lvl="1" indent="-356235" algn="l">
              <a:lnSpc>
                <a:spcPts val="3960"/>
              </a:lnSpc>
              <a:buFont typeface="Arial"/>
              <a:buChar char="•"/>
            </a:pPr>
            <a:r>
              <a:rPr lang="en-US" sz="3300" b="1" spc="-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Normalized Input Details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144000" y="1357479"/>
            <a:ext cx="6925863" cy="647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560"/>
              </a:lnSpc>
              <a:spcBef>
                <a:spcPct val="0"/>
              </a:spcBef>
            </a:pPr>
            <a:r>
              <a:rPr lang="en-US" sz="3800" b="1" u="sng" spc="-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Batch Prediction &amp; Workflow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9345226" y="2047160"/>
            <a:ext cx="4181997" cy="609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20"/>
              </a:lnSpc>
              <a:spcBef>
                <a:spcPct val="0"/>
              </a:spcBef>
            </a:pPr>
            <a:r>
              <a:rPr lang="en-US" sz="3600" b="1" spc="-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Batch Prediction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9473747" y="2590085"/>
            <a:ext cx="7655080" cy="3038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12470" lvl="1" indent="-356235" algn="l">
              <a:lnSpc>
                <a:spcPts val="3960"/>
              </a:lnSpc>
              <a:buFont typeface="Arial"/>
              <a:buChar char="•"/>
            </a:pPr>
            <a:r>
              <a:rPr lang="en-US" sz="3300" b="1" spc="-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CSV upload containing multiple drug combinations (INPUT)</a:t>
            </a:r>
          </a:p>
          <a:p>
            <a:pPr marL="712470" lvl="1" indent="-356235" algn="l">
              <a:lnSpc>
                <a:spcPts val="3960"/>
              </a:lnSpc>
              <a:buFont typeface="Arial"/>
              <a:buChar char="•"/>
            </a:pPr>
            <a:r>
              <a:rPr lang="en-US" sz="3300" b="1" spc="-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Required fields: Drug1 ID, Drug2 ID, Cell Line</a:t>
            </a:r>
          </a:p>
          <a:p>
            <a:pPr marL="712470" lvl="1" indent="-356235" algn="l">
              <a:lnSpc>
                <a:spcPts val="3960"/>
              </a:lnSpc>
              <a:buFont typeface="Arial"/>
              <a:buChar char="•"/>
            </a:pPr>
            <a:r>
              <a:rPr lang="en-US" sz="3300" b="1" spc="-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Generates downloadable prediction results CSV (OUTPUT)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9345226" y="5657135"/>
            <a:ext cx="5634706" cy="685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00"/>
              </a:lnSpc>
              <a:spcBef>
                <a:spcPct val="0"/>
              </a:spcBef>
            </a:pPr>
            <a:r>
              <a:rPr lang="en-US" sz="4000" b="1" u="sng" spc="-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Prediction Workflow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0180512" y="6347941"/>
            <a:ext cx="7503765" cy="3038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60"/>
              </a:lnSpc>
              <a:spcBef>
                <a:spcPct val="0"/>
              </a:spcBef>
            </a:pPr>
            <a:r>
              <a:rPr lang="en-US" sz="3300" b="1" spc="-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Input Drug Pair &amp; Cell Line</a:t>
            </a:r>
          </a:p>
          <a:p>
            <a:pPr algn="l">
              <a:lnSpc>
                <a:spcPts val="3960"/>
              </a:lnSpc>
              <a:spcBef>
                <a:spcPct val="0"/>
              </a:spcBef>
            </a:pPr>
            <a:r>
              <a:rPr lang="en-US" sz="3300" b="1" spc="-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→ Feature Lookup &amp; Construction</a:t>
            </a:r>
          </a:p>
          <a:p>
            <a:pPr algn="l">
              <a:lnSpc>
                <a:spcPts val="3960"/>
              </a:lnSpc>
              <a:spcBef>
                <a:spcPct val="0"/>
              </a:spcBef>
            </a:pPr>
            <a:r>
              <a:rPr lang="en-US" sz="3300" b="1" spc="-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→ Feature Alignment with Training Schema</a:t>
            </a:r>
          </a:p>
          <a:p>
            <a:pPr algn="l">
              <a:lnSpc>
                <a:spcPts val="3960"/>
              </a:lnSpc>
              <a:spcBef>
                <a:spcPct val="0"/>
              </a:spcBef>
            </a:pPr>
            <a:r>
              <a:rPr lang="en-US" sz="3300" b="1" spc="-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→ Model Prediction</a:t>
            </a:r>
          </a:p>
          <a:p>
            <a:pPr algn="l">
              <a:lnSpc>
                <a:spcPts val="3960"/>
              </a:lnSpc>
              <a:spcBef>
                <a:spcPct val="0"/>
              </a:spcBef>
            </a:pPr>
            <a:r>
              <a:rPr lang="en-US" sz="3300" b="1" spc="-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→ ComboScore Generation</a:t>
            </a:r>
          </a:p>
          <a:p>
            <a:pPr algn="l">
              <a:lnSpc>
                <a:spcPts val="3960"/>
              </a:lnSpc>
              <a:spcBef>
                <a:spcPct val="0"/>
              </a:spcBef>
            </a:pPr>
            <a:r>
              <a:rPr lang="en-US" sz="3300" b="1" spc="-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→ SHAP-based Interpretation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19329" y="115024"/>
            <a:ext cx="16580977" cy="1469155"/>
            <a:chOff x="0" y="0"/>
            <a:chExt cx="22107970" cy="195887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2107975" cy="1958878"/>
            </a:xfrm>
            <a:custGeom>
              <a:avLst/>
              <a:gdLst/>
              <a:ahLst/>
              <a:cxnLst/>
              <a:rect l="l" t="t" r="r" b="b"/>
              <a:pathLst>
                <a:path w="22107975" h="1958878">
                  <a:moveTo>
                    <a:pt x="0" y="0"/>
                  </a:moveTo>
                  <a:lnTo>
                    <a:pt x="22107975" y="0"/>
                  </a:lnTo>
                  <a:lnTo>
                    <a:pt x="22107975" y="1958878"/>
                  </a:lnTo>
                  <a:lnTo>
                    <a:pt x="0" y="195887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69908" b="-169908"/>
              </a:stretch>
            </a:blipFill>
          </p:spPr>
        </p:sp>
        <p:sp>
          <p:nvSpPr>
            <p:cNvPr id="4" name="TextBox 4"/>
            <p:cNvSpPr txBox="1"/>
            <p:nvPr/>
          </p:nvSpPr>
          <p:spPr>
            <a:xfrm>
              <a:off x="0" y="0"/>
              <a:ext cx="22107970" cy="195887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382"/>
                </a:lnSpc>
              </a:pPr>
              <a:endParaRPr/>
            </a:p>
            <a:p>
              <a:pPr algn="l">
                <a:lnSpc>
                  <a:spcPts val="4530"/>
                </a:lnSpc>
              </a:pPr>
              <a:r>
                <a:rPr lang="en-US" sz="4719" b="1" spc="-1">
                  <a:solidFill>
                    <a:srgbClr val="8A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Simulation and Results </a:t>
              </a:r>
            </a:p>
            <a:p>
              <a:pPr algn="l">
                <a:lnSpc>
                  <a:spcPts val="4530"/>
                </a:lnSpc>
              </a:pPr>
              <a:endParaRPr lang="en-US" sz="4719" b="1" spc="-1">
                <a:solidFill>
                  <a:srgbClr val="8A0000"/>
                </a:solidFill>
                <a:latin typeface="Calibri (MS) Bold"/>
                <a:ea typeface="Calibri (MS) Bold"/>
                <a:cs typeface="Calibri (MS) Bold"/>
                <a:sym typeface="Calibri (MS) Bold"/>
              </a:endParaRP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7227439" y="9458096"/>
            <a:ext cx="913676" cy="713880"/>
            <a:chOff x="0" y="0"/>
            <a:chExt cx="1218235" cy="95184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218240" cy="951840"/>
            </a:xfrm>
            <a:custGeom>
              <a:avLst/>
              <a:gdLst/>
              <a:ahLst/>
              <a:cxnLst/>
              <a:rect l="l" t="t" r="r" b="b"/>
              <a:pathLst>
                <a:path w="1218240" h="951840">
                  <a:moveTo>
                    <a:pt x="0" y="0"/>
                  </a:moveTo>
                  <a:lnTo>
                    <a:pt x="1218240" y="0"/>
                  </a:lnTo>
                  <a:lnTo>
                    <a:pt x="1218240" y="951840"/>
                  </a:lnTo>
                  <a:lnTo>
                    <a:pt x="0" y="9518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50246" r="-50246"/>
              </a:stretch>
            </a:blipFill>
          </p:spPr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1218235" cy="999465"/>
            </a:xfrm>
            <a:prstGeom prst="rect">
              <a:avLst/>
            </a:prstGeom>
          </p:spPr>
          <p:txBody>
            <a:bodyPr lIns="0" tIns="0" rIns="0" bIns="0" rtlCol="0" anchor="b"/>
            <a:lstStyle/>
            <a:p>
              <a:pPr algn="ctr">
                <a:lnSpc>
                  <a:spcPts val="2879"/>
                </a:lnSpc>
              </a:pPr>
              <a:r>
                <a:rPr lang="en-US" sz="2400" spc="-1">
                  <a:solidFill>
                    <a:srgbClr val="B5A989"/>
                  </a:solidFill>
                  <a:latin typeface="Gill Sans Light"/>
                  <a:ea typeface="Gill Sans Light"/>
                  <a:cs typeface="Gill Sans Light"/>
                  <a:sym typeface="Gill Sans Light"/>
                </a:rPr>
                <a:t>15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5048652" y="240306"/>
            <a:ext cx="3053067" cy="774964"/>
            <a:chOff x="0" y="0"/>
            <a:chExt cx="4070756" cy="1033285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4070731" cy="1033272"/>
            </a:xfrm>
            <a:custGeom>
              <a:avLst/>
              <a:gdLst/>
              <a:ahLst/>
              <a:cxnLst/>
              <a:rect l="l" t="t" r="r" b="b"/>
              <a:pathLst>
                <a:path w="4070731" h="1033272">
                  <a:moveTo>
                    <a:pt x="0" y="0"/>
                  </a:moveTo>
                  <a:lnTo>
                    <a:pt x="4070731" y="0"/>
                  </a:lnTo>
                  <a:lnTo>
                    <a:pt x="4070731" y="1033272"/>
                  </a:lnTo>
                  <a:lnTo>
                    <a:pt x="0" y="10332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10989" b="-10989"/>
              </a:stretch>
            </a:blipFill>
          </p:spPr>
        </p:sp>
      </p:grpSp>
      <p:graphicFrame>
        <p:nvGraphicFramePr>
          <p:cNvPr id="10" name="Object 10"/>
          <p:cNvGraphicFramePr/>
          <p:nvPr/>
        </p:nvGraphicFramePr>
        <p:xfrm>
          <a:off x="1517432" y="2460139"/>
          <a:ext cx="5657850" cy="5029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4" imgW="6781800" imgH="6159500" progId="Excel.Sheet.12">
                  <p:embed/>
                </p:oleObj>
              </mc:Choice>
              <mc:Fallback>
                <p:oleObj name="Worksheet" r:id="rId4" imgW="6781800" imgH="6159500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17432" y="2460139"/>
                        <a:ext cx="5657850" cy="5029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extBox 11"/>
          <p:cNvSpPr txBox="1"/>
          <p:nvPr/>
        </p:nvSpPr>
        <p:spPr>
          <a:xfrm>
            <a:off x="578729" y="1094851"/>
            <a:ext cx="16550097" cy="685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15265" lvl="1" indent="-307632" algn="l">
              <a:lnSpc>
                <a:spcPts val="4800"/>
              </a:lnSpc>
              <a:buFont typeface="Arial"/>
              <a:buChar char="•"/>
            </a:pPr>
            <a:r>
              <a:rPr lang="en-US" sz="4000" b="1" spc="-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Implementation Outcomes ( Tables / Figures / User Interface Snaps)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28700" y="1800812"/>
            <a:ext cx="13732440" cy="5724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10516" lvl="1" indent="-255258" algn="l">
              <a:lnSpc>
                <a:spcPts val="3983"/>
              </a:lnSpc>
              <a:buFont typeface="Arial"/>
              <a:buChar char="•"/>
            </a:pPr>
            <a:r>
              <a:rPr lang="en-US" sz="3319" b="1" spc="-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Machine learning Model predictions</a:t>
            </a:r>
          </a:p>
        </p:txBody>
      </p:sp>
      <p:sp>
        <p:nvSpPr>
          <p:cNvPr id="13" name="Freeform 13"/>
          <p:cNvSpPr/>
          <p:nvPr/>
        </p:nvSpPr>
        <p:spPr>
          <a:xfrm>
            <a:off x="9144000" y="3221028"/>
            <a:ext cx="8434449" cy="4792007"/>
          </a:xfrm>
          <a:custGeom>
            <a:avLst/>
            <a:gdLst/>
            <a:ahLst/>
            <a:cxnLst/>
            <a:rect l="l" t="t" r="r" b="b"/>
            <a:pathLst>
              <a:path w="8434449" h="4792007">
                <a:moveTo>
                  <a:pt x="0" y="0"/>
                </a:moveTo>
                <a:lnTo>
                  <a:pt x="8434449" y="0"/>
                </a:lnTo>
                <a:lnTo>
                  <a:pt x="8434449" y="4792007"/>
                </a:lnTo>
                <a:lnTo>
                  <a:pt x="0" y="479200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4" name="TextBox 14"/>
          <p:cNvSpPr txBox="1"/>
          <p:nvPr/>
        </p:nvSpPr>
        <p:spPr>
          <a:xfrm>
            <a:off x="11977078" y="8232110"/>
            <a:ext cx="4598108" cy="5724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83"/>
              </a:lnSpc>
            </a:pPr>
            <a:r>
              <a:rPr lang="en-US" sz="3319" b="1" spc="-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 square comparison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19329" y="115024"/>
            <a:ext cx="16580977" cy="1469155"/>
            <a:chOff x="0" y="0"/>
            <a:chExt cx="22107970" cy="195887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2107975" cy="1958878"/>
            </a:xfrm>
            <a:custGeom>
              <a:avLst/>
              <a:gdLst/>
              <a:ahLst/>
              <a:cxnLst/>
              <a:rect l="l" t="t" r="r" b="b"/>
              <a:pathLst>
                <a:path w="22107975" h="1958878">
                  <a:moveTo>
                    <a:pt x="0" y="0"/>
                  </a:moveTo>
                  <a:lnTo>
                    <a:pt x="22107975" y="0"/>
                  </a:lnTo>
                  <a:lnTo>
                    <a:pt x="22107975" y="1958878"/>
                  </a:lnTo>
                  <a:lnTo>
                    <a:pt x="0" y="195887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69908" b="-169908"/>
              </a:stretch>
            </a:blipFill>
          </p:spPr>
        </p:sp>
        <p:sp>
          <p:nvSpPr>
            <p:cNvPr id="4" name="TextBox 4"/>
            <p:cNvSpPr txBox="1"/>
            <p:nvPr/>
          </p:nvSpPr>
          <p:spPr>
            <a:xfrm>
              <a:off x="0" y="0"/>
              <a:ext cx="22107970" cy="195887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382"/>
                </a:lnSpc>
              </a:pPr>
              <a:endParaRPr/>
            </a:p>
            <a:p>
              <a:pPr algn="l">
                <a:lnSpc>
                  <a:spcPts val="4530"/>
                </a:lnSpc>
              </a:pPr>
              <a:r>
                <a:rPr lang="en-US" sz="4719" b="1" spc="-1">
                  <a:solidFill>
                    <a:srgbClr val="8A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Simulation and Results </a:t>
              </a:r>
            </a:p>
            <a:p>
              <a:pPr algn="l">
                <a:lnSpc>
                  <a:spcPts val="4530"/>
                </a:lnSpc>
              </a:pPr>
              <a:endParaRPr lang="en-US" sz="4719" b="1" spc="-1">
                <a:solidFill>
                  <a:srgbClr val="8A0000"/>
                </a:solidFill>
                <a:latin typeface="Calibri (MS) Bold"/>
                <a:ea typeface="Calibri (MS) Bold"/>
                <a:cs typeface="Calibri (MS) Bold"/>
                <a:sym typeface="Calibri (MS) Bold"/>
              </a:endParaRP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7227439" y="9458096"/>
            <a:ext cx="913676" cy="713880"/>
            <a:chOff x="0" y="0"/>
            <a:chExt cx="1218235" cy="95184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218240" cy="951840"/>
            </a:xfrm>
            <a:custGeom>
              <a:avLst/>
              <a:gdLst/>
              <a:ahLst/>
              <a:cxnLst/>
              <a:rect l="l" t="t" r="r" b="b"/>
              <a:pathLst>
                <a:path w="1218240" h="951840">
                  <a:moveTo>
                    <a:pt x="0" y="0"/>
                  </a:moveTo>
                  <a:lnTo>
                    <a:pt x="1218240" y="0"/>
                  </a:lnTo>
                  <a:lnTo>
                    <a:pt x="1218240" y="951840"/>
                  </a:lnTo>
                  <a:lnTo>
                    <a:pt x="0" y="9518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50246" r="-50246"/>
              </a:stretch>
            </a:blipFill>
          </p:spPr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1218235" cy="999465"/>
            </a:xfrm>
            <a:prstGeom prst="rect">
              <a:avLst/>
            </a:prstGeom>
          </p:spPr>
          <p:txBody>
            <a:bodyPr lIns="0" tIns="0" rIns="0" bIns="0" rtlCol="0" anchor="b"/>
            <a:lstStyle/>
            <a:p>
              <a:pPr algn="ctr">
                <a:lnSpc>
                  <a:spcPts val="2879"/>
                </a:lnSpc>
              </a:pPr>
              <a:r>
                <a:rPr lang="en-US" sz="2400" spc="-1">
                  <a:solidFill>
                    <a:srgbClr val="B5A989"/>
                  </a:solidFill>
                  <a:latin typeface="Gill Sans Light"/>
                  <a:ea typeface="Gill Sans Light"/>
                  <a:cs typeface="Gill Sans Light"/>
                  <a:sym typeface="Gill Sans Light"/>
                </a:rPr>
                <a:t>16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5048652" y="240306"/>
            <a:ext cx="3053067" cy="774964"/>
            <a:chOff x="0" y="0"/>
            <a:chExt cx="4070756" cy="1033285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4070731" cy="1033272"/>
            </a:xfrm>
            <a:custGeom>
              <a:avLst/>
              <a:gdLst/>
              <a:ahLst/>
              <a:cxnLst/>
              <a:rect l="l" t="t" r="r" b="b"/>
              <a:pathLst>
                <a:path w="4070731" h="1033272">
                  <a:moveTo>
                    <a:pt x="0" y="0"/>
                  </a:moveTo>
                  <a:lnTo>
                    <a:pt x="4070731" y="0"/>
                  </a:lnTo>
                  <a:lnTo>
                    <a:pt x="4070731" y="1033272"/>
                  </a:lnTo>
                  <a:lnTo>
                    <a:pt x="0" y="10332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10989" b="-10989"/>
              </a:stretch>
            </a:blipFill>
          </p:spPr>
        </p:sp>
      </p:grpSp>
      <p:sp>
        <p:nvSpPr>
          <p:cNvPr id="10" name="Freeform 10"/>
          <p:cNvSpPr/>
          <p:nvPr/>
        </p:nvSpPr>
        <p:spPr>
          <a:xfrm>
            <a:off x="1028700" y="2945619"/>
            <a:ext cx="10259664" cy="5388239"/>
          </a:xfrm>
          <a:custGeom>
            <a:avLst/>
            <a:gdLst/>
            <a:ahLst/>
            <a:cxnLst/>
            <a:rect l="l" t="t" r="r" b="b"/>
            <a:pathLst>
              <a:path w="10259664" h="5388239">
                <a:moveTo>
                  <a:pt x="0" y="0"/>
                </a:moveTo>
                <a:lnTo>
                  <a:pt x="10259664" y="0"/>
                </a:lnTo>
                <a:lnTo>
                  <a:pt x="10259664" y="5388239"/>
                </a:lnTo>
                <a:lnTo>
                  <a:pt x="0" y="538823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b="-3169"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578729" y="1094851"/>
            <a:ext cx="16550097" cy="685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15265" lvl="1" indent="-307632" algn="l">
              <a:lnSpc>
                <a:spcPts val="4800"/>
              </a:lnSpc>
              <a:buFont typeface="Arial"/>
              <a:buChar char="•"/>
            </a:pPr>
            <a:r>
              <a:rPr lang="en-US" sz="4000" b="1" spc="-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Implementation Outcomes ( Tables / Figures / User Interface Snaps)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1774479" y="4065194"/>
            <a:ext cx="8161458" cy="10783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10516" lvl="1" indent="-255258" algn="l">
              <a:lnSpc>
                <a:spcPts val="3983"/>
              </a:lnSpc>
              <a:buFont typeface="Arial"/>
              <a:buChar char="•"/>
            </a:pPr>
            <a:r>
              <a:rPr lang="en-US" sz="3319" b="1" spc="-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Quantum Machine learning Model predictions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1934467" y="5251923"/>
            <a:ext cx="6228371" cy="1619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61456" lvl="1" indent="-280728" algn="l">
              <a:lnSpc>
                <a:spcPts val="3120"/>
              </a:lnSpc>
              <a:buFont typeface="Arial"/>
              <a:buChar char="•"/>
            </a:pPr>
            <a:r>
              <a:rPr lang="en-US" sz="2600" b="1" spc="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Model Used: Quantum Kernel Ridge Regression (QKRR)</a:t>
            </a:r>
          </a:p>
          <a:p>
            <a:pPr marL="561456" lvl="1" indent="-280728" algn="l">
              <a:lnSpc>
                <a:spcPts val="3120"/>
              </a:lnSpc>
              <a:buFont typeface="Arial"/>
              <a:buChar char="•"/>
            </a:pPr>
            <a:r>
              <a:rPr lang="en-US" sz="2600" b="1" spc="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R² Score: 0.5169</a:t>
            </a:r>
          </a:p>
          <a:p>
            <a:pPr marL="561456" lvl="1" indent="-280728" algn="l">
              <a:lnSpc>
                <a:spcPts val="3120"/>
              </a:lnSpc>
              <a:buFont typeface="Arial"/>
              <a:buChar char="•"/>
            </a:pPr>
            <a:r>
              <a:rPr lang="en-US" sz="2600" b="1" spc="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MAE: 4.0722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921745" y="8529874"/>
            <a:ext cx="8161458" cy="10783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83"/>
              </a:lnSpc>
            </a:pPr>
            <a:r>
              <a:rPr lang="en-US" sz="3319" b="1" spc="-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Classical Model Error Comparison: RMSE vs MAE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19329" y="115024"/>
            <a:ext cx="16580977" cy="1469155"/>
            <a:chOff x="0" y="0"/>
            <a:chExt cx="22107970" cy="195887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2107975" cy="1958878"/>
            </a:xfrm>
            <a:custGeom>
              <a:avLst/>
              <a:gdLst/>
              <a:ahLst/>
              <a:cxnLst/>
              <a:rect l="l" t="t" r="r" b="b"/>
              <a:pathLst>
                <a:path w="22107975" h="1958878">
                  <a:moveTo>
                    <a:pt x="0" y="0"/>
                  </a:moveTo>
                  <a:lnTo>
                    <a:pt x="22107975" y="0"/>
                  </a:lnTo>
                  <a:lnTo>
                    <a:pt x="22107975" y="1958878"/>
                  </a:lnTo>
                  <a:lnTo>
                    <a:pt x="0" y="195887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69908" b="-169908"/>
              </a:stretch>
            </a:blipFill>
          </p:spPr>
        </p:sp>
        <p:sp>
          <p:nvSpPr>
            <p:cNvPr id="4" name="TextBox 4"/>
            <p:cNvSpPr txBox="1"/>
            <p:nvPr/>
          </p:nvSpPr>
          <p:spPr>
            <a:xfrm>
              <a:off x="0" y="0"/>
              <a:ext cx="22107970" cy="195887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382"/>
                </a:lnSpc>
              </a:pPr>
              <a:endParaRPr/>
            </a:p>
            <a:p>
              <a:pPr algn="l">
                <a:lnSpc>
                  <a:spcPts val="4530"/>
                </a:lnSpc>
              </a:pPr>
              <a:r>
                <a:rPr lang="en-US" sz="4719" b="1" spc="-1">
                  <a:solidFill>
                    <a:srgbClr val="8A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Simulation and Results </a:t>
              </a:r>
            </a:p>
            <a:p>
              <a:pPr algn="l">
                <a:lnSpc>
                  <a:spcPts val="4530"/>
                </a:lnSpc>
              </a:pPr>
              <a:endParaRPr lang="en-US" sz="4719" b="1" spc="-1">
                <a:solidFill>
                  <a:srgbClr val="8A0000"/>
                </a:solidFill>
                <a:latin typeface="Calibri (MS) Bold"/>
                <a:ea typeface="Calibri (MS) Bold"/>
                <a:cs typeface="Calibri (MS) Bold"/>
                <a:sym typeface="Calibri (MS) Bold"/>
              </a:endParaRP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7227439" y="9458096"/>
            <a:ext cx="913676" cy="713880"/>
            <a:chOff x="0" y="0"/>
            <a:chExt cx="1218235" cy="95184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218240" cy="951840"/>
            </a:xfrm>
            <a:custGeom>
              <a:avLst/>
              <a:gdLst/>
              <a:ahLst/>
              <a:cxnLst/>
              <a:rect l="l" t="t" r="r" b="b"/>
              <a:pathLst>
                <a:path w="1218240" h="951840">
                  <a:moveTo>
                    <a:pt x="0" y="0"/>
                  </a:moveTo>
                  <a:lnTo>
                    <a:pt x="1218240" y="0"/>
                  </a:lnTo>
                  <a:lnTo>
                    <a:pt x="1218240" y="951840"/>
                  </a:lnTo>
                  <a:lnTo>
                    <a:pt x="0" y="9518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50246" r="-50246"/>
              </a:stretch>
            </a:blipFill>
          </p:spPr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1218235" cy="999465"/>
            </a:xfrm>
            <a:prstGeom prst="rect">
              <a:avLst/>
            </a:prstGeom>
          </p:spPr>
          <p:txBody>
            <a:bodyPr lIns="0" tIns="0" rIns="0" bIns="0" rtlCol="0" anchor="b"/>
            <a:lstStyle/>
            <a:p>
              <a:pPr algn="ctr">
                <a:lnSpc>
                  <a:spcPts val="2879"/>
                </a:lnSpc>
              </a:pPr>
              <a:r>
                <a:rPr lang="en-US" sz="2400" spc="-1">
                  <a:solidFill>
                    <a:srgbClr val="B5A989"/>
                  </a:solidFill>
                  <a:latin typeface="Gill Sans Light"/>
                  <a:ea typeface="Gill Sans Light"/>
                  <a:cs typeface="Gill Sans Light"/>
                  <a:sym typeface="Gill Sans Light"/>
                </a:rPr>
                <a:t>17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5048652" y="240306"/>
            <a:ext cx="3053067" cy="774964"/>
            <a:chOff x="0" y="0"/>
            <a:chExt cx="4070756" cy="1033285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4070731" cy="1033272"/>
            </a:xfrm>
            <a:custGeom>
              <a:avLst/>
              <a:gdLst/>
              <a:ahLst/>
              <a:cxnLst/>
              <a:rect l="l" t="t" r="r" b="b"/>
              <a:pathLst>
                <a:path w="4070731" h="1033272">
                  <a:moveTo>
                    <a:pt x="0" y="0"/>
                  </a:moveTo>
                  <a:lnTo>
                    <a:pt x="4070731" y="0"/>
                  </a:lnTo>
                  <a:lnTo>
                    <a:pt x="4070731" y="1033272"/>
                  </a:lnTo>
                  <a:lnTo>
                    <a:pt x="0" y="10332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10989" b="-10989"/>
              </a:stretch>
            </a:blipFill>
          </p:spPr>
        </p:sp>
      </p:grpSp>
      <p:sp>
        <p:nvSpPr>
          <p:cNvPr id="10" name="Freeform 10"/>
          <p:cNvSpPr/>
          <p:nvPr/>
        </p:nvSpPr>
        <p:spPr>
          <a:xfrm>
            <a:off x="3633742" y="2101869"/>
            <a:ext cx="11020516" cy="6059153"/>
          </a:xfrm>
          <a:custGeom>
            <a:avLst/>
            <a:gdLst/>
            <a:ahLst/>
            <a:cxnLst/>
            <a:rect l="l" t="t" r="r" b="b"/>
            <a:pathLst>
              <a:path w="11020516" h="6059153">
                <a:moveTo>
                  <a:pt x="0" y="0"/>
                </a:moveTo>
                <a:lnTo>
                  <a:pt x="11020516" y="0"/>
                </a:lnTo>
                <a:lnTo>
                  <a:pt x="11020516" y="6059153"/>
                </a:lnTo>
                <a:lnTo>
                  <a:pt x="0" y="605915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99" r="-199"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578729" y="1094851"/>
            <a:ext cx="16550097" cy="685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15265" lvl="1" indent="-307632" algn="l">
              <a:lnSpc>
                <a:spcPts val="4800"/>
              </a:lnSpc>
              <a:buFont typeface="Arial"/>
              <a:buChar char="•"/>
            </a:pPr>
            <a:r>
              <a:rPr lang="en-US" sz="4000" b="1" spc="-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Implementation Outcomes ( Tables / Figures / User Interface Snaps)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178298" y="8389622"/>
            <a:ext cx="14822008" cy="15857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11"/>
              </a:lnSpc>
              <a:spcBef>
                <a:spcPct val="0"/>
              </a:spcBef>
            </a:pPr>
            <a:r>
              <a:rPr lang="en-US" sz="2936" b="1" spc="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The deep learning models show lower accuracy compared to the tuned XGBoost model. ResNet achieved an R² of 0.5552 and MLP achieved 0.4937, while XGBoost Tuned achieved a much higher R² of 0.7415, making XGBoost the best-performing model in this comparison.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19329" y="115024"/>
            <a:ext cx="16580977" cy="1469155"/>
            <a:chOff x="0" y="0"/>
            <a:chExt cx="22107970" cy="195887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2107975" cy="1958878"/>
            </a:xfrm>
            <a:custGeom>
              <a:avLst/>
              <a:gdLst/>
              <a:ahLst/>
              <a:cxnLst/>
              <a:rect l="l" t="t" r="r" b="b"/>
              <a:pathLst>
                <a:path w="22107975" h="1958878">
                  <a:moveTo>
                    <a:pt x="0" y="0"/>
                  </a:moveTo>
                  <a:lnTo>
                    <a:pt x="22107975" y="0"/>
                  </a:lnTo>
                  <a:lnTo>
                    <a:pt x="22107975" y="1958878"/>
                  </a:lnTo>
                  <a:lnTo>
                    <a:pt x="0" y="195887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69908" b="-169908"/>
              </a:stretch>
            </a:blipFill>
          </p:spPr>
        </p:sp>
        <p:sp>
          <p:nvSpPr>
            <p:cNvPr id="4" name="TextBox 4"/>
            <p:cNvSpPr txBox="1"/>
            <p:nvPr/>
          </p:nvSpPr>
          <p:spPr>
            <a:xfrm>
              <a:off x="0" y="0"/>
              <a:ext cx="22107970" cy="195887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382"/>
                </a:lnSpc>
              </a:pPr>
              <a:endParaRPr/>
            </a:p>
            <a:p>
              <a:pPr algn="l">
                <a:lnSpc>
                  <a:spcPts val="4530"/>
                </a:lnSpc>
              </a:pPr>
              <a:r>
                <a:rPr lang="en-US" sz="4719" b="1" spc="-1">
                  <a:solidFill>
                    <a:srgbClr val="8A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Simulation and Results </a:t>
              </a:r>
            </a:p>
            <a:p>
              <a:pPr algn="l">
                <a:lnSpc>
                  <a:spcPts val="4530"/>
                </a:lnSpc>
              </a:pPr>
              <a:endParaRPr lang="en-US" sz="4719" b="1" spc="-1">
                <a:solidFill>
                  <a:srgbClr val="8A0000"/>
                </a:solidFill>
                <a:latin typeface="Calibri (MS) Bold"/>
                <a:ea typeface="Calibri (MS) Bold"/>
                <a:cs typeface="Calibri (MS) Bold"/>
                <a:sym typeface="Calibri (MS) Bold"/>
              </a:endParaRP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7227439" y="9458096"/>
            <a:ext cx="913676" cy="713880"/>
            <a:chOff x="0" y="0"/>
            <a:chExt cx="1218235" cy="95184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218240" cy="951840"/>
            </a:xfrm>
            <a:custGeom>
              <a:avLst/>
              <a:gdLst/>
              <a:ahLst/>
              <a:cxnLst/>
              <a:rect l="l" t="t" r="r" b="b"/>
              <a:pathLst>
                <a:path w="1218240" h="951840">
                  <a:moveTo>
                    <a:pt x="0" y="0"/>
                  </a:moveTo>
                  <a:lnTo>
                    <a:pt x="1218240" y="0"/>
                  </a:lnTo>
                  <a:lnTo>
                    <a:pt x="1218240" y="951840"/>
                  </a:lnTo>
                  <a:lnTo>
                    <a:pt x="0" y="9518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50246" r="-50246"/>
              </a:stretch>
            </a:blipFill>
          </p:spPr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1218235" cy="999465"/>
            </a:xfrm>
            <a:prstGeom prst="rect">
              <a:avLst/>
            </a:prstGeom>
          </p:spPr>
          <p:txBody>
            <a:bodyPr lIns="0" tIns="0" rIns="0" bIns="0" rtlCol="0" anchor="b"/>
            <a:lstStyle/>
            <a:p>
              <a:pPr algn="ctr">
                <a:lnSpc>
                  <a:spcPts val="2879"/>
                </a:lnSpc>
              </a:pPr>
              <a:r>
                <a:rPr lang="en-US" sz="2400" spc="-1">
                  <a:solidFill>
                    <a:srgbClr val="B5A989"/>
                  </a:solidFill>
                  <a:latin typeface="Gill Sans Light"/>
                  <a:ea typeface="Gill Sans Light"/>
                  <a:cs typeface="Gill Sans Light"/>
                  <a:sym typeface="Gill Sans Light"/>
                </a:rPr>
                <a:t>18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5048652" y="240306"/>
            <a:ext cx="3053067" cy="774964"/>
            <a:chOff x="0" y="0"/>
            <a:chExt cx="4070756" cy="1033285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4070731" cy="1033272"/>
            </a:xfrm>
            <a:custGeom>
              <a:avLst/>
              <a:gdLst/>
              <a:ahLst/>
              <a:cxnLst/>
              <a:rect l="l" t="t" r="r" b="b"/>
              <a:pathLst>
                <a:path w="4070731" h="1033272">
                  <a:moveTo>
                    <a:pt x="0" y="0"/>
                  </a:moveTo>
                  <a:lnTo>
                    <a:pt x="4070731" y="0"/>
                  </a:lnTo>
                  <a:lnTo>
                    <a:pt x="4070731" y="1033272"/>
                  </a:lnTo>
                  <a:lnTo>
                    <a:pt x="0" y="10332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10989" b="-10989"/>
              </a:stretch>
            </a:blipFill>
          </p:spPr>
        </p:sp>
      </p:grpSp>
      <p:sp>
        <p:nvSpPr>
          <p:cNvPr id="10" name="Freeform 10"/>
          <p:cNvSpPr/>
          <p:nvPr/>
        </p:nvSpPr>
        <p:spPr>
          <a:xfrm>
            <a:off x="1390340" y="2635501"/>
            <a:ext cx="9159103" cy="6377025"/>
          </a:xfrm>
          <a:custGeom>
            <a:avLst/>
            <a:gdLst/>
            <a:ahLst/>
            <a:cxnLst/>
            <a:rect l="l" t="t" r="r" b="b"/>
            <a:pathLst>
              <a:path w="9159103" h="6377025">
                <a:moveTo>
                  <a:pt x="0" y="0"/>
                </a:moveTo>
                <a:lnTo>
                  <a:pt x="9159102" y="0"/>
                </a:lnTo>
                <a:lnTo>
                  <a:pt x="9159102" y="6377025"/>
                </a:lnTo>
                <a:lnTo>
                  <a:pt x="0" y="637702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12134309" y="2203337"/>
            <a:ext cx="4440877" cy="7295075"/>
          </a:xfrm>
          <a:custGeom>
            <a:avLst/>
            <a:gdLst/>
            <a:ahLst/>
            <a:cxnLst/>
            <a:rect l="l" t="t" r="r" b="b"/>
            <a:pathLst>
              <a:path w="4440877" h="7295075">
                <a:moveTo>
                  <a:pt x="0" y="0"/>
                </a:moveTo>
                <a:lnTo>
                  <a:pt x="4440877" y="0"/>
                </a:lnTo>
                <a:lnTo>
                  <a:pt x="4440877" y="7295076"/>
                </a:lnTo>
                <a:lnTo>
                  <a:pt x="0" y="729507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578729" y="1094851"/>
            <a:ext cx="16550097" cy="685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15265" lvl="1" indent="-307632" algn="l">
              <a:lnSpc>
                <a:spcPts val="4800"/>
              </a:lnSpc>
              <a:buFont typeface="Arial"/>
              <a:buChar char="•"/>
            </a:pPr>
            <a:r>
              <a:rPr lang="en-US" sz="4000" b="1" spc="-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User Interface Snaps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677342" y="1730626"/>
            <a:ext cx="2052509" cy="685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15265" lvl="1" indent="-307632" algn="l">
              <a:lnSpc>
                <a:spcPts val="4800"/>
              </a:lnSpc>
              <a:buFont typeface="Arial"/>
              <a:buChar char="•"/>
            </a:pPr>
            <a:r>
              <a:rPr lang="en-US" sz="4000" b="1" spc="-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Home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1593705" y="1507979"/>
            <a:ext cx="3581707" cy="685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15265" lvl="1" indent="-307632" algn="l">
              <a:lnSpc>
                <a:spcPts val="4800"/>
              </a:lnSpc>
              <a:buFont typeface="Arial"/>
              <a:buChar char="•"/>
            </a:pPr>
            <a:r>
              <a:rPr lang="en-US" sz="4000" b="1" spc="-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Prediction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19329" y="115024"/>
            <a:ext cx="16580977" cy="1469155"/>
            <a:chOff x="0" y="0"/>
            <a:chExt cx="22107970" cy="195887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2107975" cy="1958878"/>
            </a:xfrm>
            <a:custGeom>
              <a:avLst/>
              <a:gdLst/>
              <a:ahLst/>
              <a:cxnLst/>
              <a:rect l="l" t="t" r="r" b="b"/>
              <a:pathLst>
                <a:path w="22107975" h="1958878">
                  <a:moveTo>
                    <a:pt x="0" y="0"/>
                  </a:moveTo>
                  <a:lnTo>
                    <a:pt x="22107975" y="0"/>
                  </a:lnTo>
                  <a:lnTo>
                    <a:pt x="22107975" y="1958878"/>
                  </a:lnTo>
                  <a:lnTo>
                    <a:pt x="0" y="195887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69908" b="-169908"/>
              </a:stretch>
            </a:blipFill>
          </p:spPr>
        </p:sp>
        <p:sp>
          <p:nvSpPr>
            <p:cNvPr id="4" name="TextBox 4"/>
            <p:cNvSpPr txBox="1"/>
            <p:nvPr/>
          </p:nvSpPr>
          <p:spPr>
            <a:xfrm>
              <a:off x="0" y="0"/>
              <a:ext cx="22107970" cy="195887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382"/>
                </a:lnSpc>
              </a:pPr>
              <a:endParaRPr/>
            </a:p>
            <a:p>
              <a:pPr algn="l">
                <a:lnSpc>
                  <a:spcPts val="4530"/>
                </a:lnSpc>
              </a:pPr>
              <a:r>
                <a:rPr lang="en-US" sz="4719" b="1" spc="-1">
                  <a:solidFill>
                    <a:srgbClr val="8A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Simulation and Results </a:t>
              </a:r>
            </a:p>
            <a:p>
              <a:pPr algn="l">
                <a:lnSpc>
                  <a:spcPts val="4530"/>
                </a:lnSpc>
              </a:pPr>
              <a:endParaRPr lang="en-US" sz="4719" b="1" spc="-1">
                <a:solidFill>
                  <a:srgbClr val="8A0000"/>
                </a:solidFill>
                <a:latin typeface="Calibri (MS) Bold"/>
                <a:ea typeface="Calibri (MS) Bold"/>
                <a:cs typeface="Calibri (MS) Bold"/>
                <a:sym typeface="Calibri (MS) Bold"/>
              </a:endParaRP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7227439" y="9458096"/>
            <a:ext cx="913676" cy="713880"/>
            <a:chOff x="0" y="0"/>
            <a:chExt cx="1218235" cy="95184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218240" cy="951840"/>
            </a:xfrm>
            <a:custGeom>
              <a:avLst/>
              <a:gdLst/>
              <a:ahLst/>
              <a:cxnLst/>
              <a:rect l="l" t="t" r="r" b="b"/>
              <a:pathLst>
                <a:path w="1218240" h="951840">
                  <a:moveTo>
                    <a:pt x="0" y="0"/>
                  </a:moveTo>
                  <a:lnTo>
                    <a:pt x="1218240" y="0"/>
                  </a:lnTo>
                  <a:lnTo>
                    <a:pt x="1218240" y="951840"/>
                  </a:lnTo>
                  <a:lnTo>
                    <a:pt x="0" y="9518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50246" r="-50246"/>
              </a:stretch>
            </a:blipFill>
          </p:spPr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1218235" cy="999465"/>
            </a:xfrm>
            <a:prstGeom prst="rect">
              <a:avLst/>
            </a:prstGeom>
          </p:spPr>
          <p:txBody>
            <a:bodyPr lIns="0" tIns="0" rIns="0" bIns="0" rtlCol="0" anchor="b"/>
            <a:lstStyle/>
            <a:p>
              <a:pPr algn="ctr">
                <a:lnSpc>
                  <a:spcPts val="2879"/>
                </a:lnSpc>
              </a:pPr>
              <a:r>
                <a:rPr lang="en-US" sz="2400" spc="-1">
                  <a:solidFill>
                    <a:srgbClr val="B5A989"/>
                  </a:solidFill>
                  <a:latin typeface="Gill Sans Light"/>
                  <a:ea typeface="Gill Sans Light"/>
                  <a:cs typeface="Gill Sans Light"/>
                  <a:sym typeface="Gill Sans Light"/>
                </a:rPr>
                <a:t>19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5048652" y="240306"/>
            <a:ext cx="3053067" cy="774964"/>
            <a:chOff x="0" y="0"/>
            <a:chExt cx="4070756" cy="1033285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4070731" cy="1033272"/>
            </a:xfrm>
            <a:custGeom>
              <a:avLst/>
              <a:gdLst/>
              <a:ahLst/>
              <a:cxnLst/>
              <a:rect l="l" t="t" r="r" b="b"/>
              <a:pathLst>
                <a:path w="4070731" h="1033272">
                  <a:moveTo>
                    <a:pt x="0" y="0"/>
                  </a:moveTo>
                  <a:lnTo>
                    <a:pt x="4070731" y="0"/>
                  </a:lnTo>
                  <a:lnTo>
                    <a:pt x="4070731" y="1033272"/>
                  </a:lnTo>
                  <a:lnTo>
                    <a:pt x="0" y="10332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10989" b="-10989"/>
              </a:stretch>
            </a:blipFill>
          </p:spPr>
        </p:sp>
      </p:grpSp>
      <p:sp>
        <p:nvSpPr>
          <p:cNvPr id="10" name="Freeform 10"/>
          <p:cNvSpPr/>
          <p:nvPr/>
        </p:nvSpPr>
        <p:spPr>
          <a:xfrm>
            <a:off x="1028700" y="2925834"/>
            <a:ext cx="6755499" cy="6889202"/>
          </a:xfrm>
          <a:custGeom>
            <a:avLst/>
            <a:gdLst/>
            <a:ahLst/>
            <a:cxnLst/>
            <a:rect l="l" t="t" r="r" b="b"/>
            <a:pathLst>
              <a:path w="6755499" h="6889202">
                <a:moveTo>
                  <a:pt x="0" y="0"/>
                </a:moveTo>
                <a:lnTo>
                  <a:pt x="6755499" y="0"/>
                </a:lnTo>
                <a:lnTo>
                  <a:pt x="6755499" y="6889202"/>
                </a:lnTo>
                <a:lnTo>
                  <a:pt x="0" y="688920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9702125" y="2925834"/>
            <a:ext cx="6873061" cy="7037728"/>
          </a:xfrm>
          <a:custGeom>
            <a:avLst/>
            <a:gdLst/>
            <a:ahLst/>
            <a:cxnLst/>
            <a:rect l="l" t="t" r="r" b="b"/>
            <a:pathLst>
              <a:path w="6873061" h="7037728">
                <a:moveTo>
                  <a:pt x="0" y="0"/>
                </a:moveTo>
                <a:lnTo>
                  <a:pt x="6873061" y="0"/>
                </a:lnTo>
                <a:lnTo>
                  <a:pt x="6873061" y="7037728"/>
                </a:lnTo>
                <a:lnTo>
                  <a:pt x="0" y="703772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578729" y="1094851"/>
            <a:ext cx="16550097" cy="685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15265" lvl="1" indent="-307632" algn="l">
              <a:lnSpc>
                <a:spcPts val="4800"/>
              </a:lnSpc>
              <a:buFont typeface="Arial"/>
              <a:buChar char="•"/>
            </a:pPr>
            <a:r>
              <a:rPr lang="en-US" sz="4000" b="1" spc="-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User Interface Snaps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533381" y="2033640"/>
            <a:ext cx="8176436" cy="685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15265" lvl="1" indent="-307632" algn="l">
              <a:lnSpc>
                <a:spcPts val="4800"/>
              </a:lnSpc>
              <a:buFont typeface="Arial"/>
              <a:buChar char="•"/>
            </a:pPr>
            <a:r>
              <a:rPr lang="en-US" sz="4000" b="1" spc="-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Molecule structure representation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1226297" y="2014928"/>
            <a:ext cx="3581707" cy="685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15265" lvl="1" indent="-307632" algn="l">
              <a:lnSpc>
                <a:spcPts val="4800"/>
              </a:lnSpc>
              <a:buFont typeface="Arial"/>
              <a:buChar char="•"/>
            </a:pPr>
            <a:r>
              <a:rPr lang="en-US" sz="4000" b="1" spc="-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SHAP Feature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19329" y="115024"/>
            <a:ext cx="16580977" cy="1469155"/>
            <a:chOff x="0" y="0"/>
            <a:chExt cx="22107970" cy="195887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2107975" cy="1958878"/>
            </a:xfrm>
            <a:custGeom>
              <a:avLst/>
              <a:gdLst/>
              <a:ahLst/>
              <a:cxnLst/>
              <a:rect l="l" t="t" r="r" b="b"/>
              <a:pathLst>
                <a:path w="22107975" h="1958878">
                  <a:moveTo>
                    <a:pt x="0" y="0"/>
                  </a:moveTo>
                  <a:lnTo>
                    <a:pt x="22107975" y="0"/>
                  </a:lnTo>
                  <a:lnTo>
                    <a:pt x="22107975" y="1958878"/>
                  </a:lnTo>
                  <a:lnTo>
                    <a:pt x="0" y="195887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69908" b="-169908"/>
              </a:stretch>
            </a:blipFill>
          </p:spPr>
        </p:sp>
        <p:sp>
          <p:nvSpPr>
            <p:cNvPr id="4" name="TextBox 4"/>
            <p:cNvSpPr txBox="1"/>
            <p:nvPr/>
          </p:nvSpPr>
          <p:spPr>
            <a:xfrm>
              <a:off x="0" y="0"/>
              <a:ext cx="22107970" cy="195887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382"/>
                </a:lnSpc>
              </a:pPr>
              <a:endParaRPr/>
            </a:p>
            <a:p>
              <a:pPr algn="l">
                <a:lnSpc>
                  <a:spcPts val="4530"/>
                </a:lnSpc>
              </a:pPr>
              <a:r>
                <a:rPr lang="en-US" sz="4719" b="1" spc="-1">
                  <a:solidFill>
                    <a:srgbClr val="8A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Simulation and Results </a:t>
              </a:r>
            </a:p>
            <a:p>
              <a:pPr algn="l">
                <a:lnSpc>
                  <a:spcPts val="4530"/>
                </a:lnSpc>
              </a:pPr>
              <a:endParaRPr lang="en-US" sz="4719" b="1" spc="-1">
                <a:solidFill>
                  <a:srgbClr val="8A0000"/>
                </a:solidFill>
                <a:latin typeface="Calibri (MS) Bold"/>
                <a:ea typeface="Calibri (MS) Bold"/>
                <a:cs typeface="Calibri (MS) Bold"/>
                <a:sym typeface="Calibri (MS) Bold"/>
              </a:endParaRP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7227439" y="9458096"/>
            <a:ext cx="913676" cy="713880"/>
            <a:chOff x="0" y="0"/>
            <a:chExt cx="1218235" cy="95184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218240" cy="951840"/>
            </a:xfrm>
            <a:custGeom>
              <a:avLst/>
              <a:gdLst/>
              <a:ahLst/>
              <a:cxnLst/>
              <a:rect l="l" t="t" r="r" b="b"/>
              <a:pathLst>
                <a:path w="1218240" h="951840">
                  <a:moveTo>
                    <a:pt x="0" y="0"/>
                  </a:moveTo>
                  <a:lnTo>
                    <a:pt x="1218240" y="0"/>
                  </a:lnTo>
                  <a:lnTo>
                    <a:pt x="1218240" y="951840"/>
                  </a:lnTo>
                  <a:lnTo>
                    <a:pt x="0" y="9518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50246" r="-50246"/>
              </a:stretch>
            </a:blipFill>
          </p:spPr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1218235" cy="999465"/>
            </a:xfrm>
            <a:prstGeom prst="rect">
              <a:avLst/>
            </a:prstGeom>
          </p:spPr>
          <p:txBody>
            <a:bodyPr lIns="0" tIns="0" rIns="0" bIns="0" rtlCol="0" anchor="b"/>
            <a:lstStyle/>
            <a:p>
              <a:pPr algn="ctr">
                <a:lnSpc>
                  <a:spcPts val="2879"/>
                </a:lnSpc>
              </a:pPr>
              <a:r>
                <a:rPr lang="en-US" sz="2400" spc="-1">
                  <a:solidFill>
                    <a:srgbClr val="B5A989"/>
                  </a:solidFill>
                  <a:latin typeface="Gill Sans Light"/>
                  <a:ea typeface="Gill Sans Light"/>
                  <a:cs typeface="Gill Sans Light"/>
                  <a:sym typeface="Gill Sans Light"/>
                </a:rPr>
                <a:t>20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5048652" y="240306"/>
            <a:ext cx="3053067" cy="774964"/>
            <a:chOff x="0" y="0"/>
            <a:chExt cx="4070756" cy="1033285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4070731" cy="1033272"/>
            </a:xfrm>
            <a:custGeom>
              <a:avLst/>
              <a:gdLst/>
              <a:ahLst/>
              <a:cxnLst/>
              <a:rect l="l" t="t" r="r" b="b"/>
              <a:pathLst>
                <a:path w="4070731" h="1033272">
                  <a:moveTo>
                    <a:pt x="0" y="0"/>
                  </a:moveTo>
                  <a:lnTo>
                    <a:pt x="4070731" y="0"/>
                  </a:lnTo>
                  <a:lnTo>
                    <a:pt x="4070731" y="1033272"/>
                  </a:lnTo>
                  <a:lnTo>
                    <a:pt x="0" y="10332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10989" b="-10989"/>
              </a:stretch>
            </a:blipFill>
          </p:spPr>
        </p:sp>
      </p:grpSp>
      <p:sp>
        <p:nvSpPr>
          <p:cNvPr id="10" name="Freeform 10"/>
          <p:cNvSpPr/>
          <p:nvPr/>
        </p:nvSpPr>
        <p:spPr>
          <a:xfrm>
            <a:off x="8709817" y="1239639"/>
            <a:ext cx="5778343" cy="9047361"/>
          </a:xfrm>
          <a:custGeom>
            <a:avLst/>
            <a:gdLst/>
            <a:ahLst/>
            <a:cxnLst/>
            <a:rect l="l" t="t" r="r" b="b"/>
            <a:pathLst>
              <a:path w="5778343" h="9047361">
                <a:moveTo>
                  <a:pt x="0" y="0"/>
                </a:moveTo>
                <a:lnTo>
                  <a:pt x="5778343" y="0"/>
                </a:lnTo>
                <a:lnTo>
                  <a:pt x="5778343" y="9047361"/>
                </a:lnTo>
                <a:lnTo>
                  <a:pt x="0" y="904736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r="-4839"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578729" y="1094851"/>
            <a:ext cx="16550097" cy="685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15265" lvl="1" indent="-307632" algn="l">
              <a:lnSpc>
                <a:spcPts val="4800"/>
              </a:lnSpc>
              <a:buFont typeface="Arial"/>
              <a:buChar char="•"/>
            </a:pPr>
            <a:r>
              <a:rPr lang="en-US" sz="4000" b="1" spc="-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User Interface Snaps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194412" y="3938156"/>
            <a:ext cx="3855336" cy="12053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69818" lvl="1" indent="-284909" algn="l">
              <a:lnSpc>
                <a:spcPts val="4446"/>
              </a:lnSpc>
              <a:buFont typeface="Arial"/>
              <a:buChar char="•"/>
            </a:pPr>
            <a:r>
              <a:rPr lang="en-US" sz="3705" b="1" spc="-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Batch Prediction Feature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59026" y="-86420"/>
            <a:ext cx="16580977" cy="1469155"/>
            <a:chOff x="0" y="0"/>
            <a:chExt cx="22107970" cy="195887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2107975" cy="1958878"/>
            </a:xfrm>
            <a:custGeom>
              <a:avLst/>
              <a:gdLst/>
              <a:ahLst/>
              <a:cxnLst/>
              <a:rect l="l" t="t" r="r" b="b"/>
              <a:pathLst>
                <a:path w="22107975" h="1958878">
                  <a:moveTo>
                    <a:pt x="0" y="0"/>
                  </a:moveTo>
                  <a:lnTo>
                    <a:pt x="22107975" y="0"/>
                  </a:lnTo>
                  <a:lnTo>
                    <a:pt x="22107975" y="1958878"/>
                  </a:lnTo>
                  <a:lnTo>
                    <a:pt x="0" y="19588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69908" b="-169908"/>
              </a:stretch>
            </a:blipFill>
          </p:spPr>
        </p:sp>
        <p:sp>
          <p:nvSpPr>
            <p:cNvPr id="4" name="TextBox 4"/>
            <p:cNvSpPr txBox="1"/>
            <p:nvPr/>
          </p:nvSpPr>
          <p:spPr>
            <a:xfrm>
              <a:off x="0" y="-85725"/>
              <a:ext cx="22107970" cy="204459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759"/>
                </a:lnSpc>
              </a:pPr>
              <a:r>
                <a:rPr lang="en-US" sz="4800" b="1" spc="-1">
                  <a:solidFill>
                    <a:srgbClr val="8A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Summary</a:t>
              </a:r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578729" y="1094851"/>
            <a:ext cx="16550097" cy="685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15265" lvl="1" indent="-307632" algn="l">
              <a:lnSpc>
                <a:spcPts val="4800"/>
              </a:lnSpc>
              <a:buFont typeface="Arial"/>
              <a:buChar char="•"/>
            </a:pPr>
            <a:r>
              <a:rPr lang="en-US" sz="4000" b="1" u="sng" spc="-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Key Findings 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17227439" y="9458096"/>
            <a:ext cx="913676" cy="713880"/>
            <a:chOff x="0" y="0"/>
            <a:chExt cx="1218235" cy="95184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218240" cy="951840"/>
            </a:xfrm>
            <a:custGeom>
              <a:avLst/>
              <a:gdLst/>
              <a:ahLst/>
              <a:cxnLst/>
              <a:rect l="l" t="t" r="r" b="b"/>
              <a:pathLst>
                <a:path w="1218240" h="951840">
                  <a:moveTo>
                    <a:pt x="0" y="0"/>
                  </a:moveTo>
                  <a:lnTo>
                    <a:pt x="1218240" y="0"/>
                  </a:lnTo>
                  <a:lnTo>
                    <a:pt x="1218240" y="951840"/>
                  </a:lnTo>
                  <a:lnTo>
                    <a:pt x="0" y="951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0246" r="-50246"/>
              </a:stretch>
            </a:blipFill>
          </p:spPr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1218235" cy="999465"/>
            </a:xfrm>
            <a:prstGeom prst="rect">
              <a:avLst/>
            </a:prstGeom>
          </p:spPr>
          <p:txBody>
            <a:bodyPr lIns="0" tIns="0" rIns="0" bIns="0" rtlCol="0" anchor="b"/>
            <a:lstStyle/>
            <a:p>
              <a:pPr algn="ctr">
                <a:lnSpc>
                  <a:spcPts val="2879"/>
                </a:lnSpc>
              </a:pPr>
              <a:r>
                <a:rPr lang="en-US" sz="2400" spc="-1">
                  <a:solidFill>
                    <a:srgbClr val="B5A989"/>
                  </a:solidFill>
                  <a:latin typeface="Gill Sans Light"/>
                  <a:ea typeface="Gill Sans Light"/>
                  <a:cs typeface="Gill Sans Light"/>
                  <a:sym typeface="Gill Sans Light"/>
                </a:rPr>
                <a:t>21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5048652" y="240306"/>
            <a:ext cx="3053067" cy="774964"/>
            <a:chOff x="0" y="0"/>
            <a:chExt cx="4070756" cy="1033285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4070731" cy="1033272"/>
            </a:xfrm>
            <a:custGeom>
              <a:avLst/>
              <a:gdLst/>
              <a:ahLst/>
              <a:cxnLst/>
              <a:rect l="l" t="t" r="r" b="b"/>
              <a:pathLst>
                <a:path w="4070731" h="1033272">
                  <a:moveTo>
                    <a:pt x="0" y="0"/>
                  </a:moveTo>
                  <a:lnTo>
                    <a:pt x="4070731" y="0"/>
                  </a:lnTo>
                  <a:lnTo>
                    <a:pt x="4070731" y="1033272"/>
                  </a:lnTo>
                  <a:lnTo>
                    <a:pt x="0" y="10332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10989" b="-10989"/>
              </a:stretch>
            </a:blipFill>
          </p:spPr>
        </p:sp>
      </p:grpSp>
      <p:sp>
        <p:nvSpPr>
          <p:cNvPr id="11" name="TextBox 11"/>
          <p:cNvSpPr txBox="1"/>
          <p:nvPr/>
        </p:nvSpPr>
        <p:spPr>
          <a:xfrm>
            <a:off x="814649" y="1989270"/>
            <a:ext cx="17473351" cy="3000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4519" lvl="1" indent="-302260" algn="l">
              <a:lnSpc>
                <a:spcPts val="3359"/>
              </a:lnSpc>
              <a:buFont typeface="Arial"/>
              <a:buChar char="•"/>
            </a:pPr>
            <a:r>
              <a:rPr lang="en-US" sz="2799" b="1" spc="-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XGBoost achieved the best performance among the evaluated machine learning models for drug synergy prediction.</a:t>
            </a:r>
          </a:p>
          <a:p>
            <a:pPr marL="604519" lvl="1" indent="-302260" algn="l">
              <a:lnSpc>
                <a:spcPts val="3359"/>
              </a:lnSpc>
              <a:buFont typeface="Arial"/>
              <a:buChar char="•"/>
            </a:pPr>
            <a:r>
              <a:rPr lang="en-US" sz="2799" b="1" spc="-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Drug-related toxicity and omics features showed strong influence on ComboScore prediction.</a:t>
            </a:r>
          </a:p>
          <a:p>
            <a:pPr marL="604519" lvl="1" indent="-302260" algn="l">
              <a:lnSpc>
                <a:spcPts val="3359"/>
              </a:lnSpc>
              <a:buFont typeface="Arial"/>
              <a:buChar char="•"/>
            </a:pPr>
            <a:r>
              <a:rPr lang="en-US" sz="2799" b="1" spc="-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SHAP analysis successfully identified dominant biological and drug-related features affecting synergy outcomes.</a:t>
            </a:r>
          </a:p>
          <a:p>
            <a:pPr marL="604519" lvl="1" indent="-302260" algn="l">
              <a:lnSpc>
                <a:spcPts val="3359"/>
              </a:lnSpc>
              <a:buFont typeface="Arial"/>
              <a:buChar char="•"/>
            </a:pPr>
            <a:r>
              <a:rPr lang="en-US" sz="2799" b="1" spc="-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Predicting continuous ComboScore provided more detailed insight compared to simple synergy classification.</a:t>
            </a:r>
          </a:p>
          <a:p>
            <a:pPr marL="604519" lvl="1" indent="-302260" algn="l">
              <a:lnSpc>
                <a:spcPts val="3359"/>
              </a:lnSpc>
              <a:buFont typeface="Arial"/>
              <a:buChar char="•"/>
            </a:pPr>
            <a:r>
              <a:rPr lang="en-US" sz="2799" b="1" spc="-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The system successfully supported both single and batch prediction workflows through a deployable web interface.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09203" y="5039416"/>
            <a:ext cx="16550097" cy="685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15265" lvl="1" indent="-307632" algn="l">
              <a:lnSpc>
                <a:spcPts val="4800"/>
              </a:lnSpc>
              <a:buFont typeface="Arial"/>
              <a:buChar char="•"/>
            </a:pPr>
            <a:r>
              <a:rPr lang="en-US" sz="4000" b="1" u="sng" spc="-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Limitations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868877" y="5934766"/>
            <a:ext cx="15626655" cy="2581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4519" lvl="1" indent="-302260" algn="l">
              <a:lnSpc>
                <a:spcPts val="3359"/>
              </a:lnSpc>
              <a:buFont typeface="Arial"/>
              <a:buChar char="•"/>
            </a:pPr>
            <a:r>
              <a:rPr lang="en-US" sz="2799" b="1" spc="-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Model performance is limited by the availability and diversity of experimental drug-combination data.</a:t>
            </a:r>
          </a:p>
          <a:p>
            <a:pPr marL="604519" lvl="1" indent="-302260" algn="l">
              <a:lnSpc>
                <a:spcPts val="3359"/>
              </a:lnSpc>
              <a:buFont typeface="Arial"/>
              <a:buChar char="•"/>
            </a:pPr>
            <a:r>
              <a:rPr lang="en-US" sz="2799" b="1" spc="-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Generalization to completely unseen drug pairs and rare cancer conditions remains challenging.</a:t>
            </a:r>
          </a:p>
          <a:p>
            <a:pPr marL="604519" lvl="1" indent="-302260" algn="l">
              <a:lnSpc>
                <a:spcPts val="3359"/>
              </a:lnSpc>
              <a:buFont typeface="Arial"/>
              <a:buChar char="•"/>
            </a:pPr>
            <a:r>
              <a:rPr lang="en-US" sz="2799" b="1" spc="-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High-dimensional biological data increases computational complexity during training.</a:t>
            </a:r>
          </a:p>
          <a:p>
            <a:pPr marL="604519" lvl="1" indent="-302260" algn="l">
              <a:lnSpc>
                <a:spcPts val="3359"/>
              </a:lnSpc>
              <a:buFont typeface="Arial"/>
              <a:buChar char="•"/>
            </a:pPr>
            <a:r>
              <a:rPr lang="en-US" sz="2799" b="1" spc="-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Quantum-model integration is still in the experimental stage and requires further optimization.</a:t>
            </a:r>
          </a:p>
          <a:p>
            <a:pPr marL="604519" lvl="1" indent="-302260" algn="l">
              <a:lnSpc>
                <a:spcPts val="3359"/>
              </a:lnSpc>
              <a:buFont typeface="Arial"/>
              <a:buChar char="•"/>
            </a:pPr>
            <a:r>
              <a:rPr lang="en-US" sz="2799" b="1" spc="-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Predictions are research-supportive and not intended for direct clinical decision-making.</a:t>
            </a:r>
          </a:p>
          <a:p>
            <a:pPr algn="l">
              <a:lnSpc>
                <a:spcPts val="3359"/>
              </a:lnSpc>
            </a:pPr>
            <a:endParaRPr lang="en-US" sz="2799" b="1" spc="-1">
              <a:solidFill>
                <a:srgbClr val="000000"/>
              </a:solidFill>
              <a:latin typeface="Calibri (MS) Bold"/>
              <a:ea typeface="Calibri (MS) Bold"/>
              <a:cs typeface="Calibri (MS) Bold"/>
              <a:sym typeface="Calibri (MS) Bold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59026" y="-86420"/>
            <a:ext cx="16580977" cy="1469155"/>
            <a:chOff x="0" y="0"/>
            <a:chExt cx="22107970" cy="195887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2107975" cy="1958878"/>
            </a:xfrm>
            <a:custGeom>
              <a:avLst/>
              <a:gdLst/>
              <a:ahLst/>
              <a:cxnLst/>
              <a:rect l="l" t="t" r="r" b="b"/>
              <a:pathLst>
                <a:path w="22107975" h="1958878">
                  <a:moveTo>
                    <a:pt x="0" y="0"/>
                  </a:moveTo>
                  <a:lnTo>
                    <a:pt x="22107975" y="0"/>
                  </a:lnTo>
                  <a:lnTo>
                    <a:pt x="22107975" y="1958878"/>
                  </a:lnTo>
                  <a:lnTo>
                    <a:pt x="0" y="19588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69908" b="-169908"/>
              </a:stretch>
            </a:blipFill>
          </p:spPr>
        </p:sp>
        <p:sp>
          <p:nvSpPr>
            <p:cNvPr id="4" name="TextBox 4"/>
            <p:cNvSpPr txBox="1"/>
            <p:nvPr/>
          </p:nvSpPr>
          <p:spPr>
            <a:xfrm>
              <a:off x="0" y="-85725"/>
              <a:ext cx="22107970" cy="204459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759"/>
                </a:lnSpc>
              </a:pPr>
              <a:r>
                <a:rPr lang="en-US" sz="4800" b="1" spc="-1">
                  <a:solidFill>
                    <a:srgbClr val="8A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Summary</a:t>
              </a:r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519150" y="696935"/>
            <a:ext cx="16550097" cy="1295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00"/>
              </a:lnSpc>
            </a:pPr>
            <a:endParaRPr/>
          </a:p>
          <a:p>
            <a:pPr marL="615265" lvl="1" indent="-307632" algn="l">
              <a:lnSpc>
                <a:spcPts val="4800"/>
              </a:lnSpc>
              <a:buFont typeface="Arial"/>
              <a:buChar char="•"/>
            </a:pPr>
            <a:r>
              <a:rPr lang="en-US" sz="4000" b="1" spc="-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Future Directions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17227439" y="9458096"/>
            <a:ext cx="913676" cy="713880"/>
            <a:chOff x="0" y="0"/>
            <a:chExt cx="1218235" cy="95184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218240" cy="951840"/>
            </a:xfrm>
            <a:custGeom>
              <a:avLst/>
              <a:gdLst/>
              <a:ahLst/>
              <a:cxnLst/>
              <a:rect l="l" t="t" r="r" b="b"/>
              <a:pathLst>
                <a:path w="1218240" h="951840">
                  <a:moveTo>
                    <a:pt x="0" y="0"/>
                  </a:moveTo>
                  <a:lnTo>
                    <a:pt x="1218240" y="0"/>
                  </a:lnTo>
                  <a:lnTo>
                    <a:pt x="1218240" y="951840"/>
                  </a:lnTo>
                  <a:lnTo>
                    <a:pt x="0" y="951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0246" r="-50246"/>
              </a:stretch>
            </a:blipFill>
          </p:spPr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1218235" cy="999465"/>
            </a:xfrm>
            <a:prstGeom prst="rect">
              <a:avLst/>
            </a:prstGeom>
          </p:spPr>
          <p:txBody>
            <a:bodyPr lIns="0" tIns="0" rIns="0" bIns="0" rtlCol="0" anchor="b"/>
            <a:lstStyle/>
            <a:p>
              <a:pPr algn="ctr">
                <a:lnSpc>
                  <a:spcPts val="2879"/>
                </a:lnSpc>
              </a:pPr>
              <a:r>
                <a:rPr lang="en-US" sz="2400" spc="-1">
                  <a:solidFill>
                    <a:srgbClr val="B5A989"/>
                  </a:solidFill>
                  <a:latin typeface="Gill Sans Light"/>
                  <a:ea typeface="Gill Sans Light"/>
                  <a:cs typeface="Gill Sans Light"/>
                  <a:sym typeface="Gill Sans Light"/>
                </a:rPr>
                <a:t>22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5048652" y="240306"/>
            <a:ext cx="3053067" cy="774964"/>
            <a:chOff x="0" y="0"/>
            <a:chExt cx="4070756" cy="1033285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4070731" cy="1033272"/>
            </a:xfrm>
            <a:custGeom>
              <a:avLst/>
              <a:gdLst/>
              <a:ahLst/>
              <a:cxnLst/>
              <a:rect l="l" t="t" r="r" b="b"/>
              <a:pathLst>
                <a:path w="4070731" h="1033272">
                  <a:moveTo>
                    <a:pt x="0" y="0"/>
                  </a:moveTo>
                  <a:lnTo>
                    <a:pt x="4070731" y="0"/>
                  </a:lnTo>
                  <a:lnTo>
                    <a:pt x="4070731" y="1033272"/>
                  </a:lnTo>
                  <a:lnTo>
                    <a:pt x="0" y="10332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10989" b="-10989"/>
              </a:stretch>
            </a:blipFill>
          </p:spPr>
        </p:sp>
      </p:grpSp>
      <p:sp>
        <p:nvSpPr>
          <p:cNvPr id="11" name="TextBox 11"/>
          <p:cNvSpPr txBox="1"/>
          <p:nvPr/>
        </p:nvSpPr>
        <p:spPr>
          <a:xfrm>
            <a:off x="908966" y="2113910"/>
            <a:ext cx="13659239" cy="4438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26109" lvl="1" indent="-313054" algn="l">
              <a:lnSpc>
                <a:spcPts val="3479"/>
              </a:lnSpc>
              <a:buFont typeface="Arial"/>
              <a:buChar char="•"/>
            </a:pPr>
            <a:r>
              <a:rPr lang="en-US" sz="2899" b="1" spc="-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Improve prediction accuracy using larger and more diverse biomedical datasets.</a:t>
            </a:r>
          </a:p>
          <a:p>
            <a:pPr marL="626109" lvl="1" indent="-313054" algn="l">
              <a:lnSpc>
                <a:spcPts val="3479"/>
              </a:lnSpc>
              <a:buFont typeface="Arial"/>
              <a:buChar char="•"/>
            </a:pPr>
            <a:r>
              <a:rPr lang="en-US" sz="2899" b="1" spc="-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Explore advanced hybrid AI and quantum-enhanced learning approaches for high-dimensional biological data.</a:t>
            </a:r>
          </a:p>
          <a:p>
            <a:pPr marL="626109" lvl="1" indent="-313054" algn="l">
              <a:lnSpc>
                <a:spcPts val="3479"/>
              </a:lnSpc>
              <a:buFont typeface="Arial"/>
              <a:buChar char="•"/>
            </a:pPr>
            <a:r>
              <a:rPr lang="en-US" sz="2899" b="1" spc="-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Integrate additional omics modalities and pathway-level biological information.</a:t>
            </a:r>
          </a:p>
          <a:p>
            <a:pPr marL="626109" lvl="1" indent="-313054" algn="l">
              <a:lnSpc>
                <a:spcPts val="3479"/>
              </a:lnSpc>
              <a:buFont typeface="Arial"/>
              <a:buChar char="•"/>
            </a:pPr>
            <a:r>
              <a:rPr lang="en-US" sz="2899" b="1" spc="-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Extend the system toward personalized medicine and patient-specific drug synergy prediction.</a:t>
            </a:r>
          </a:p>
          <a:p>
            <a:pPr marL="626109" lvl="1" indent="-313054" algn="l">
              <a:lnSpc>
                <a:spcPts val="3479"/>
              </a:lnSpc>
              <a:buFont typeface="Arial"/>
              <a:buChar char="•"/>
            </a:pPr>
            <a:r>
              <a:rPr lang="en-US" sz="2899" b="1" spc="-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Enhance explainability with deeper biological pathway interpretation and interactive visual analytics.</a:t>
            </a:r>
          </a:p>
          <a:p>
            <a:pPr marL="626109" lvl="1" indent="-313054" algn="l">
              <a:lnSpc>
                <a:spcPts val="3479"/>
              </a:lnSpc>
              <a:buFont typeface="Arial"/>
              <a:buChar char="•"/>
            </a:pPr>
            <a:r>
              <a:rPr lang="en-US" sz="2899" b="1" spc="-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Deploy the system as a scalable cloud-based platform for real-time large-scale screening.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10632" y="461272"/>
            <a:ext cx="16866737" cy="1107996"/>
            <a:chOff x="0" y="0"/>
            <a:chExt cx="22488982" cy="147732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2488976" cy="1477328"/>
            </a:xfrm>
            <a:custGeom>
              <a:avLst/>
              <a:gdLst/>
              <a:ahLst/>
              <a:cxnLst/>
              <a:rect l="l" t="t" r="r" b="b"/>
              <a:pathLst>
                <a:path w="22488976" h="1477328">
                  <a:moveTo>
                    <a:pt x="0" y="0"/>
                  </a:moveTo>
                  <a:lnTo>
                    <a:pt x="22488976" y="0"/>
                  </a:lnTo>
                  <a:lnTo>
                    <a:pt x="22488976" y="1477328"/>
                  </a:lnTo>
                  <a:lnTo>
                    <a:pt x="0" y="147732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246615" b="-246615"/>
              </a:stretch>
            </a:blipFill>
          </p:spPr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22488982" cy="1505903"/>
            </a:xfrm>
            <a:prstGeom prst="rect">
              <a:avLst/>
            </a:prstGeom>
          </p:spPr>
          <p:txBody>
            <a:bodyPr lIns="0" tIns="0" rIns="0" bIns="0" rtlCol="0" anchor="b"/>
            <a:lstStyle/>
            <a:p>
              <a:pPr algn="l">
                <a:lnSpc>
                  <a:spcPts val="5184"/>
                </a:lnSpc>
              </a:pPr>
              <a:r>
                <a:rPr lang="en-US" sz="4800" b="1" spc="-1">
                  <a:solidFill>
                    <a:srgbClr val="57231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References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5048652" y="240306"/>
            <a:ext cx="3053067" cy="774964"/>
            <a:chOff x="0" y="0"/>
            <a:chExt cx="4070756" cy="1033285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070731" cy="1033272"/>
            </a:xfrm>
            <a:custGeom>
              <a:avLst/>
              <a:gdLst/>
              <a:ahLst/>
              <a:cxnLst/>
              <a:rect l="l" t="t" r="r" b="b"/>
              <a:pathLst>
                <a:path w="4070731" h="1033272">
                  <a:moveTo>
                    <a:pt x="0" y="0"/>
                  </a:moveTo>
                  <a:lnTo>
                    <a:pt x="4070731" y="0"/>
                  </a:lnTo>
                  <a:lnTo>
                    <a:pt x="4070731" y="1033272"/>
                  </a:lnTo>
                  <a:lnTo>
                    <a:pt x="0" y="10332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10989" b="-10989"/>
              </a:stretch>
            </a:blipFill>
          </p:spPr>
        </p:sp>
      </p:grpSp>
      <p:sp>
        <p:nvSpPr>
          <p:cNvPr id="7" name="TextBox 7"/>
          <p:cNvSpPr txBox="1"/>
          <p:nvPr/>
        </p:nvSpPr>
        <p:spPr>
          <a:xfrm>
            <a:off x="842420" y="1857375"/>
            <a:ext cx="16703228" cy="6905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43"/>
              </a:lnSpc>
              <a:spcBef>
                <a:spcPct val="0"/>
              </a:spcBef>
            </a:pPr>
            <a:r>
              <a:rPr lang="en-US" sz="2536" b="1" spc="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[1] Chen, J. (2024). Prediction of cancer cell line-specific synergistic drug combinations based on multi-omics data [Data set]. Zenodo. </a:t>
            </a:r>
            <a:r>
              <a:rPr lang="en-US" sz="2536" b="1" u="sng" spc="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  <a:hlinkClick r:id="rId4" tooltip="https://doi.org/10.5281/zenodo.14552135"/>
              </a:rPr>
              <a:t>https://doi.org/10.5281/zenodo.14552135</a:t>
            </a:r>
            <a:r>
              <a:rPr lang="en-US" sz="2536" b="1" spc="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.</a:t>
            </a:r>
          </a:p>
          <a:p>
            <a:pPr algn="l">
              <a:lnSpc>
                <a:spcPts val="3043"/>
              </a:lnSpc>
              <a:spcBef>
                <a:spcPct val="0"/>
              </a:spcBef>
            </a:pPr>
            <a:r>
              <a:rPr lang="en-US" sz="2536" b="1" spc="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</a:t>
            </a:r>
          </a:p>
          <a:p>
            <a:pPr algn="l">
              <a:lnSpc>
                <a:spcPts val="3043"/>
              </a:lnSpc>
              <a:spcBef>
                <a:spcPct val="0"/>
              </a:spcBef>
            </a:pPr>
            <a:r>
              <a:rPr lang="en-US" sz="2536" b="1" spc="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[2] Hitesh, K., &amp; P, V. P. (2025). Cancer cell detection using a hybrid quantum and classical machine learning model. In Proceedings of the 3rd International Conference on Futuristic Technology (INCOFT 2025) (Vol.2,pp.189–194). </a:t>
            </a:r>
            <a:r>
              <a:rPr lang="en-US" sz="2536" b="1" u="sng" spc="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  <a:hlinkClick r:id="rId5" tooltip="https://doi.org/10.5220/0013589100004664"/>
              </a:rPr>
              <a:t>https://doi.org/10.5220/0013589100004664</a:t>
            </a:r>
          </a:p>
          <a:p>
            <a:pPr algn="l">
              <a:lnSpc>
                <a:spcPts val="3043"/>
              </a:lnSpc>
              <a:spcBef>
                <a:spcPct val="0"/>
              </a:spcBef>
            </a:pPr>
            <a:r>
              <a:rPr lang="en-US" sz="2536" b="1" spc="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</a:t>
            </a:r>
          </a:p>
          <a:p>
            <a:pPr algn="l">
              <a:lnSpc>
                <a:spcPts val="3043"/>
              </a:lnSpc>
              <a:spcBef>
                <a:spcPct val="0"/>
              </a:spcBef>
            </a:pPr>
            <a:r>
              <a:rPr lang="en-US" sz="2536" b="1" spc="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[3] Jiang, Y., Chen, M., Xiong, Z., &amp; Qin, Y. (2025). Predicting anti-cancer drug sensitivity through WRE-XGBoost algorithm with weighted feature selection. Genes &amp; Diseases, 12, 101275. </a:t>
            </a:r>
            <a:r>
              <a:rPr lang="en-US" sz="2536" b="1" u="sng" spc="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  <a:hlinkClick r:id="rId6" tooltip="https://doi.org/10.1016/j.gendis.2024.101275"/>
              </a:rPr>
              <a:t>https://doi.org/10.1016/j.gendis.2024.101275</a:t>
            </a:r>
          </a:p>
          <a:p>
            <a:pPr algn="l">
              <a:lnSpc>
                <a:spcPts val="3043"/>
              </a:lnSpc>
              <a:spcBef>
                <a:spcPct val="0"/>
              </a:spcBef>
            </a:pPr>
            <a:r>
              <a:rPr lang="en-US" sz="2536" b="1" spc="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</a:t>
            </a:r>
          </a:p>
          <a:p>
            <a:pPr algn="l">
              <a:lnSpc>
                <a:spcPts val="3043"/>
              </a:lnSpc>
              <a:spcBef>
                <a:spcPct val="0"/>
              </a:spcBef>
            </a:pPr>
            <a:r>
              <a:rPr lang="en-US" sz="2536" b="1" spc="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[4] Kumari, S., &amp; Sheoran, R. K. (2025). Investigating the application of quantum machine learning in breast cancer management: A systematic study. Archives of BreastCancer. </a:t>
            </a:r>
            <a:r>
              <a:rPr lang="en-US" sz="2536" b="1" u="sng" spc="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  <a:hlinkClick r:id="rId7" tooltip="https://www.archbreastcancer.com/index.php/abc/upcoming/view/1060"/>
              </a:rPr>
              <a:t>https://www.archbreastcancer.com/index.php/abc/upcoming/view/1060</a:t>
            </a:r>
          </a:p>
          <a:p>
            <a:pPr algn="l">
              <a:lnSpc>
                <a:spcPts val="3043"/>
              </a:lnSpc>
              <a:spcBef>
                <a:spcPct val="0"/>
              </a:spcBef>
            </a:pPr>
            <a:r>
              <a:rPr lang="en-US" sz="2536" b="1" spc="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</a:t>
            </a:r>
          </a:p>
          <a:p>
            <a:pPr algn="l">
              <a:lnSpc>
                <a:spcPts val="3043"/>
              </a:lnSpc>
              <a:spcBef>
                <a:spcPct val="0"/>
              </a:spcBef>
            </a:pPr>
            <a:r>
              <a:rPr lang="en-US" sz="2536" b="1" spc="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[5] Ibrahim, S. P. S., Das, A., Gaurav, N., Mishra, L. P., &amp; Kanyal, P. (2025). Healthcare analytics: Data mining techniques on electronic health records (EHR) to build a predictive model for early disease diagnosis. Proceedings of the 2025 International Conference on Sustainable Communication Networks and Application (ICSCN), 1618–1625. </a:t>
            </a:r>
            <a:r>
              <a:rPr lang="en-US" sz="2536" b="1" u="sng" spc="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  <a:hlinkClick r:id="rId8" tooltip="https://doi.org/10.1109/ICSCN67106.2025.11308699"/>
              </a:rPr>
              <a:t>https://doi.org/10.1109/ICSCN67106.2025.11308699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17227439" y="9458096"/>
            <a:ext cx="913676" cy="713880"/>
            <a:chOff x="0" y="0"/>
            <a:chExt cx="1218235" cy="95184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218240" cy="951840"/>
            </a:xfrm>
            <a:custGeom>
              <a:avLst/>
              <a:gdLst/>
              <a:ahLst/>
              <a:cxnLst/>
              <a:rect l="l" t="t" r="r" b="b"/>
              <a:pathLst>
                <a:path w="1218240" h="951840">
                  <a:moveTo>
                    <a:pt x="0" y="0"/>
                  </a:moveTo>
                  <a:lnTo>
                    <a:pt x="1218240" y="0"/>
                  </a:lnTo>
                  <a:lnTo>
                    <a:pt x="1218240" y="951840"/>
                  </a:lnTo>
                  <a:lnTo>
                    <a:pt x="0" y="9518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50246" r="-50246"/>
              </a:stretch>
            </a:blipFill>
          </p:spPr>
        </p:sp>
        <p:sp>
          <p:nvSpPr>
            <p:cNvPr id="10" name="TextBox 10"/>
            <p:cNvSpPr txBox="1"/>
            <p:nvPr/>
          </p:nvSpPr>
          <p:spPr>
            <a:xfrm>
              <a:off x="0" y="-47625"/>
              <a:ext cx="1218235" cy="999465"/>
            </a:xfrm>
            <a:prstGeom prst="rect">
              <a:avLst/>
            </a:prstGeom>
          </p:spPr>
          <p:txBody>
            <a:bodyPr lIns="0" tIns="0" rIns="0" bIns="0" rtlCol="0" anchor="b"/>
            <a:lstStyle/>
            <a:p>
              <a:pPr algn="ctr">
                <a:lnSpc>
                  <a:spcPts val="2879"/>
                </a:lnSpc>
              </a:pPr>
              <a:r>
                <a:rPr lang="en-US" sz="2400" spc="-1">
                  <a:solidFill>
                    <a:srgbClr val="B5A989"/>
                  </a:solidFill>
                  <a:latin typeface="Gill Sans Light"/>
                  <a:ea typeface="Gill Sans Light"/>
                  <a:cs typeface="Gill Sans Light"/>
                  <a:sym typeface="Gill Sans Light"/>
                </a:rPr>
                <a:t>23</a:t>
              </a:r>
            </a:p>
          </p:txBody>
        </p:sp>
      </p:grp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7227439" y="9458096"/>
            <a:ext cx="913676" cy="713880"/>
            <a:chOff x="0" y="0"/>
            <a:chExt cx="1218235" cy="95184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218240" cy="951840"/>
            </a:xfrm>
            <a:custGeom>
              <a:avLst/>
              <a:gdLst/>
              <a:ahLst/>
              <a:cxnLst/>
              <a:rect l="l" t="t" r="r" b="b"/>
              <a:pathLst>
                <a:path w="1218240" h="951840">
                  <a:moveTo>
                    <a:pt x="0" y="0"/>
                  </a:moveTo>
                  <a:lnTo>
                    <a:pt x="1218240" y="0"/>
                  </a:lnTo>
                  <a:lnTo>
                    <a:pt x="1218240" y="951840"/>
                  </a:lnTo>
                  <a:lnTo>
                    <a:pt x="0" y="9518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50246" r="-50246"/>
              </a:stretch>
            </a:blipFill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1218235" cy="999465"/>
            </a:xfrm>
            <a:prstGeom prst="rect">
              <a:avLst/>
            </a:prstGeom>
          </p:spPr>
          <p:txBody>
            <a:bodyPr lIns="0" tIns="0" rIns="0" bIns="0" rtlCol="0" anchor="b"/>
            <a:lstStyle/>
            <a:p>
              <a:pPr algn="ctr">
                <a:lnSpc>
                  <a:spcPts val="2879"/>
                </a:lnSpc>
              </a:pPr>
              <a:r>
                <a:rPr lang="en-US" sz="2400" spc="-1">
                  <a:solidFill>
                    <a:srgbClr val="B5A989"/>
                  </a:solidFill>
                  <a:latin typeface="Gill Sans Light"/>
                  <a:ea typeface="Gill Sans Light"/>
                  <a:cs typeface="Gill Sans Light"/>
                  <a:sym typeface="Gill Sans Light"/>
                </a:rPr>
                <a:t>24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4751508" y="3184998"/>
            <a:ext cx="8784974" cy="3917004"/>
            <a:chOff x="0" y="0"/>
            <a:chExt cx="11713299" cy="5222672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1713337" cy="5222621"/>
            </a:xfrm>
            <a:custGeom>
              <a:avLst/>
              <a:gdLst/>
              <a:ahLst/>
              <a:cxnLst/>
              <a:rect l="l" t="t" r="r" b="b"/>
              <a:pathLst>
                <a:path w="11713337" h="5222621">
                  <a:moveTo>
                    <a:pt x="0" y="0"/>
                  </a:moveTo>
                  <a:lnTo>
                    <a:pt x="11713337" y="0"/>
                  </a:lnTo>
                  <a:lnTo>
                    <a:pt x="11713337" y="5222621"/>
                  </a:lnTo>
                  <a:lnTo>
                    <a:pt x="0" y="52226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1061" b="-1062"/>
              </a:stretch>
            </a:blipFill>
          </p:spPr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1928</Words>
  <Application>Microsoft Office PowerPoint</Application>
  <PresentationFormat>Custom</PresentationFormat>
  <Paragraphs>308</Paragraphs>
  <Slides>25</Slides>
  <Notes>6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4" baseType="lpstr">
      <vt:lpstr>Calibri</vt:lpstr>
      <vt:lpstr>Calibri (MS) Bold</vt:lpstr>
      <vt:lpstr>Arial Bold</vt:lpstr>
      <vt:lpstr>Calibri (MS)</vt:lpstr>
      <vt:lpstr>Arial</vt:lpstr>
      <vt:lpstr>Bebas Neue</vt:lpstr>
      <vt:lpstr>Gill Sans Light</vt:lpstr>
      <vt:lpstr>Office Theme</vt:lpstr>
      <vt:lpstr>Worksheet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SCOPE_SDP_Template_May_2026 (1).pptx</dc:title>
  <cp:lastModifiedBy>Lalith kumar Siramdasu</cp:lastModifiedBy>
  <cp:revision>3</cp:revision>
  <dcterms:created xsi:type="dcterms:W3CDTF">2006-08-16T00:00:00Z</dcterms:created>
  <dcterms:modified xsi:type="dcterms:W3CDTF">2026-05-07T01:40:54Z</dcterms:modified>
  <dc:identifier>DAHI0kG0sGQ</dc:identifier>
</cp:coreProperties>
</file>